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hWc6iDa4vbRMvp6BzjzSqGxrPA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C98A86C-BF8F-40B2-8BF4-487442ABF2EF}">
  <a:tblStyle styleId="{EC98A86C-BF8F-40B2-8BF4-487442ABF2E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Camryn: Welcome to our presentation on designing and simulating a secure network for a modern tech startup. Our focus was on implementing three critical security pillars: VLAN segmentation, a DMZ, and robust VPN access.</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 name="Google Shape;2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Camryn: The goal of this project was to design and simulate a secure network architecture using Cisco Packet Tracer. Our design is based on the industry-standard three-tier model, which provides a scalable foundation. Key security features include VLAN segmentation by department, a DMZ for public-facing assets, and an IPSec VPN gateway to support secure remote work.</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p:txBody>
      </p:sp>
      <p:sp>
        <p:nvSpPr>
          <p:cNvPr id="22" name="Google Shape;2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Camryn: We focused on three core principles. First, the Three-Tier Architecture uses core, distribution, and access layers for organized and scalable routing.</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Second, we employed Defense in Depth, layering security with a firewall, VLANs, Access Control Lists, and port security at every layer.</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Third, the network is Remote Access Ready with an IPSec VPN gateway for secure off-site connectivity.</a:t>
            </a:r>
            <a:endParaRPr sz="1200">
              <a:solidFill>
                <a:schemeClr val="dk1"/>
              </a:solidFill>
            </a:endParaRPr>
          </a:p>
          <a:p>
            <a:pPr indent="0" lvl="0" marL="0" marR="0" rtl="0" algn="l">
              <a:spcBef>
                <a:spcPts val="0"/>
              </a:spcBef>
              <a:spcAft>
                <a:spcPts val="0"/>
              </a:spcAft>
              <a:buNone/>
            </a:pPr>
            <a:r>
              <a:rPr lang="en-US" sz="1200">
                <a:solidFill>
                  <a:schemeClr val="dk1"/>
                </a:solidFill>
              </a:rPr>
              <a:t>In total, our simulation used 21 devices across 10 different device types.</a:t>
            </a:r>
            <a:endParaRPr sz="1200">
              <a:solidFill>
                <a:schemeClr val="dk1"/>
              </a:solidFill>
            </a:endParaRPr>
          </a:p>
        </p:txBody>
      </p:sp>
      <p:sp>
        <p:nvSpPr>
          <p:cNvPr id="42" name="Google Shape;4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Camryn: This slide shows our starting point—the initial device placement in Cisco Packet Tracer. This logical view simply illustrates the basic hardware components before any configuration or security policies were applied</a:t>
            </a:r>
            <a:endParaRPr sz="1200">
              <a:solidFill>
                <a:schemeClr val="dk1"/>
              </a:solidFill>
              <a:latin typeface="Arial"/>
              <a:ea typeface="Arial"/>
              <a:cs typeface="Arial"/>
              <a:sym typeface="Arial"/>
            </a:endParaRPr>
          </a:p>
        </p:txBody>
      </p:sp>
      <p:sp>
        <p:nvSpPr>
          <p:cNvPr id="51" name="Google Shape;51;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2b61e3b18_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g3d2b61e3b18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Karrie: Here is the final logical view of our network. You can visually see the segmentation and how our key areas—Core, Distribution, Access, and DMZ—are logically connected and secured according to our design.</a:t>
            </a:r>
            <a:endParaRPr sz="1200">
              <a:solidFill>
                <a:schemeClr val="dk1"/>
              </a:solidFill>
              <a:latin typeface="Arial"/>
              <a:ea typeface="Arial"/>
              <a:cs typeface="Arial"/>
              <a:sym typeface="Arial"/>
            </a:endParaRPr>
          </a:p>
        </p:txBody>
      </p:sp>
      <p:sp>
        <p:nvSpPr>
          <p:cNvPr id="60" name="Google Shape;60;g3d2b61e3b18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 name="Google Shape;68;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Karrie: Our network is divided into five functional areas.</a:t>
            </a:r>
            <a:endParaRPr sz="1200">
              <a:solidFill>
                <a:schemeClr val="dk1"/>
              </a:solidFill>
            </a:endParaRPr>
          </a:p>
          <a:p>
            <a:pPr indent="0" lvl="0" marL="0" marR="0" rtl="0" algn="l">
              <a:spcBef>
                <a:spcPts val="0"/>
              </a:spcBef>
              <a:spcAft>
                <a:spcPts val="0"/>
              </a:spcAft>
              <a:buNone/>
            </a:pPr>
            <a:r>
              <a:rPr lang="en-US" sz="1200">
                <a:solidFill>
                  <a:schemeClr val="dk1"/>
                </a:solidFill>
              </a:rPr>
              <a:t>The Core Layer is the high-speed backbone connecting the distribution switches for fast inter-segment traffic.</a:t>
            </a:r>
            <a:endParaRPr sz="1200">
              <a:solidFill>
                <a:schemeClr val="dk1"/>
              </a:solidFill>
            </a:endParaRPr>
          </a:p>
          <a:p>
            <a:pPr indent="0" lvl="0" marL="0" marR="0" rtl="0" algn="l">
              <a:spcBef>
                <a:spcPts val="0"/>
              </a:spcBef>
              <a:spcAft>
                <a:spcPts val="0"/>
              </a:spcAft>
              <a:buNone/>
            </a:pPr>
            <a:r>
              <a:rPr lang="en-US" sz="1200">
                <a:solidFill>
                  <a:schemeClr val="dk1"/>
                </a:solidFill>
              </a:rPr>
              <a:t>The Distribution Layer handles routing between the different VLANs and is where inter-department policies are enforced.</a:t>
            </a:r>
            <a:endParaRPr sz="1200">
              <a:solidFill>
                <a:schemeClr val="dk1"/>
              </a:solidFill>
            </a:endParaRPr>
          </a:p>
          <a:p>
            <a:pPr indent="0" lvl="0" marL="0" marR="0" rtl="0" algn="l">
              <a:spcBef>
                <a:spcPts val="0"/>
              </a:spcBef>
              <a:spcAft>
                <a:spcPts val="0"/>
              </a:spcAft>
              <a:buNone/>
            </a:pPr>
            <a:r>
              <a:rPr lang="en-US" sz="1200">
                <a:solidFill>
                  <a:schemeClr val="dk1"/>
                </a:solidFill>
              </a:rPr>
              <a:t>The Access Layer is where end-devices connect for HR, Engineering, and Finance, separated by dedicated VLANs.</a:t>
            </a:r>
            <a:endParaRPr sz="1200">
              <a:solidFill>
                <a:schemeClr val="dk1"/>
              </a:solidFill>
            </a:endParaRPr>
          </a:p>
          <a:p>
            <a:pPr indent="0" lvl="0" marL="0" marR="0" rtl="0" algn="l">
              <a:spcBef>
                <a:spcPts val="0"/>
              </a:spcBef>
              <a:spcAft>
                <a:spcPts val="0"/>
              </a:spcAft>
              <a:buNone/>
            </a:pPr>
            <a:r>
              <a:rPr lang="en-US" sz="1200">
                <a:solidFill>
                  <a:schemeClr val="dk1"/>
                </a:solidFill>
              </a:rPr>
              <a:t>The DMZ is an isolated segment for public servers like the web and email server.</a:t>
            </a:r>
            <a:endParaRPr sz="1200">
              <a:solidFill>
                <a:schemeClr val="dk1"/>
              </a:solidFill>
            </a:endParaRPr>
          </a:p>
          <a:p>
            <a:pPr indent="0" lvl="0" marL="0" marR="0" rtl="0" algn="l">
              <a:spcBef>
                <a:spcPts val="0"/>
              </a:spcBef>
              <a:spcAft>
                <a:spcPts val="0"/>
              </a:spcAft>
              <a:buNone/>
            </a:pPr>
            <a:r>
              <a:rPr lang="en-US" sz="1200">
                <a:solidFill>
                  <a:schemeClr val="dk1"/>
                </a:solidFill>
              </a:rPr>
              <a:t>Finally, the Remote Access area uses the VPN gateway for encrypted connections from off-site employees.</a:t>
            </a:r>
            <a:endParaRPr sz="1200">
              <a:solidFill>
                <a:schemeClr val="dk1"/>
              </a:solidFill>
            </a:endParaRPr>
          </a:p>
        </p:txBody>
      </p:sp>
      <p:sp>
        <p:nvSpPr>
          <p:cNvPr id="69" name="Google Shape;69;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Karrie: Our entire design follows a defense-in-depth strategy, where security is applied at every layer.</a:t>
            </a:r>
            <a:endParaRPr sz="1200">
              <a:solidFill>
                <a:schemeClr val="dk1"/>
              </a:solidFill>
            </a:endParaRPr>
          </a:p>
          <a:p>
            <a:pPr indent="0" lvl="0" marL="0" marR="0" rtl="0" algn="l">
              <a:spcBef>
                <a:spcPts val="0"/>
              </a:spcBef>
              <a:spcAft>
                <a:spcPts val="0"/>
              </a:spcAft>
              <a:buNone/>
            </a:pPr>
            <a:r>
              <a:rPr lang="en-US" sz="1200">
                <a:solidFill>
                  <a:schemeClr val="dk1"/>
                </a:solidFill>
              </a:rPr>
              <a:t>These six measures work together to control access, isolate network segments, and ensure data is protected in transit. The key measures include a Perimeter Firewall, VLAN Segmentation, Access Control Lists, a strict DMZ Architecture, a VPN Gateway, and Port Security.</a:t>
            </a:r>
            <a:endParaRPr sz="1200">
              <a:solidFill>
                <a:schemeClr val="dk1"/>
              </a:solidFill>
            </a:endParaRPr>
          </a:p>
        </p:txBody>
      </p:sp>
      <p:sp>
        <p:nvSpPr>
          <p:cNvPr id="101" name="Google Shape;101;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Daniel: Our Perimeter Firewall, an ASA 5505, sits between the internet, the DMZ, and the internal network. It performs stateful packet inspection, tracking active connections, and denies all traffic by default. We used VLAN Segmentation to place HR, Engineering, and Finance on separate Layer 2 broadcast domains. This means a compromised device in one department cannot directly reach devices in another; all cross-VLAN traffic must pass through security checkpoints.</a:t>
            </a:r>
            <a:endParaRPr sz="1200">
              <a:solidFill>
                <a:schemeClr val="dk1"/>
              </a:solidFill>
            </a:endParaRPr>
          </a:p>
        </p:txBody>
      </p:sp>
      <p:sp>
        <p:nvSpPr>
          <p:cNvPr id="133" name="Google Shape;13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Daniel: Access Control Lists are applied to the distribution-layer Switch Virtual Interfaces (SVIs).</a:t>
            </a:r>
            <a:endParaRPr sz="1200">
              <a:solidFill>
                <a:schemeClr val="dk1"/>
              </a:solidFill>
            </a:endParaRPr>
          </a:p>
          <a:p>
            <a:pPr indent="0" lvl="0" marL="0" marR="0" rtl="0" algn="l">
              <a:spcBef>
                <a:spcPts val="0"/>
              </a:spcBef>
              <a:spcAft>
                <a:spcPts val="0"/>
              </a:spcAft>
              <a:buNone/>
            </a:pPr>
            <a:r>
              <a:rPr lang="en-US" sz="1200">
                <a:solidFill>
                  <a:schemeClr val="dk1"/>
                </a:solidFill>
              </a:rPr>
              <a:t>They function as an internal firewall, defining a whitelist of permitted inter-VLAN traffic flows and blocking everything else by default.</a:t>
            </a:r>
            <a:endParaRPr sz="1200">
              <a:solidFill>
                <a:schemeClr val="dk1"/>
              </a:solidFill>
            </a:endParaRPr>
          </a:p>
          <a:p>
            <a:pPr indent="0" lvl="0" marL="0" marR="0" rtl="0" algn="l">
              <a:spcBef>
                <a:spcPts val="0"/>
              </a:spcBef>
              <a:spcAft>
                <a:spcPts val="0"/>
              </a:spcAft>
              <a:buNone/>
            </a:pPr>
            <a:r>
              <a:rPr lang="en-US" sz="1200">
                <a:solidFill>
                  <a:schemeClr val="dk1"/>
                </a:solidFill>
              </a:rPr>
              <a:t>In the DMZ Architecture, our public servers are isolated.</a:t>
            </a:r>
            <a:endParaRPr sz="1200">
              <a:solidFill>
                <a:schemeClr val="dk1"/>
              </a:solidFill>
            </a:endParaRPr>
          </a:p>
          <a:p>
            <a:pPr indent="0" lvl="0" marL="0" marR="0" rtl="0" algn="l">
              <a:spcBef>
                <a:spcPts val="0"/>
              </a:spcBef>
              <a:spcAft>
                <a:spcPts val="0"/>
              </a:spcAft>
              <a:buNone/>
            </a:pPr>
            <a:r>
              <a:rPr lang="en-US" sz="1200">
                <a:solidFill>
                  <a:schemeClr val="dk1"/>
                </a:solidFill>
              </a:rPr>
              <a:t>The firewall enforces strict directional rules: inbound internet traffic is limited to designated ports, and critically, DMZ servers cannot initiate connections into the secure internal network, ensuring containment if compromised.</a:t>
            </a:r>
            <a:endParaRPr sz="1200">
              <a:solidFill>
                <a:schemeClr val="dk1"/>
              </a:solidFill>
            </a:endParaRPr>
          </a:p>
        </p:txBody>
      </p:sp>
      <p:sp>
        <p:nvSpPr>
          <p:cNvPr id="148" name="Google Shape;14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 name="Google Shape;16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Daniel: The VPN Gateway encrypts all remote connections using IPSec, preventing interception of employee traffic in transit.</a:t>
            </a:r>
            <a:endParaRPr sz="1200">
              <a:solidFill>
                <a:schemeClr val="dk1"/>
              </a:solidFill>
            </a:endParaRPr>
          </a:p>
          <a:p>
            <a:pPr indent="0" lvl="0" marL="0" marR="0" rtl="0" algn="l">
              <a:spcBef>
                <a:spcPts val="0"/>
              </a:spcBef>
              <a:spcAft>
                <a:spcPts val="0"/>
              </a:spcAft>
              <a:buNone/>
            </a:pPr>
            <a:r>
              <a:rPr lang="en-US" sz="1200">
                <a:solidFill>
                  <a:schemeClr val="dk1"/>
                </a:solidFill>
              </a:rPr>
              <a:t>Authentication is required before any access to internal resources is granted.</a:t>
            </a:r>
            <a:endParaRPr sz="1200">
              <a:solidFill>
                <a:schemeClr val="dk1"/>
              </a:solidFill>
            </a:endParaRPr>
          </a:p>
          <a:p>
            <a:pPr indent="0" lvl="0" marL="0" marR="0" rtl="0" algn="l">
              <a:spcBef>
                <a:spcPts val="0"/>
              </a:spcBef>
              <a:spcAft>
                <a:spcPts val="0"/>
              </a:spcAft>
              <a:buNone/>
            </a:pPr>
            <a:r>
              <a:rPr lang="en-US" sz="1200">
                <a:solidFill>
                  <a:schemeClr val="dk1"/>
                </a:solidFill>
              </a:rPr>
              <a:t>Port Security is configured on all access-layer ports using sticky MAC address learning.</a:t>
            </a:r>
            <a:endParaRPr sz="1200">
              <a:solidFill>
                <a:schemeClr val="dk1"/>
              </a:solidFill>
            </a:endParaRPr>
          </a:p>
          <a:p>
            <a:pPr indent="0" lvl="0" marL="0" marR="0" rtl="0" algn="l">
              <a:spcBef>
                <a:spcPts val="0"/>
              </a:spcBef>
              <a:spcAft>
                <a:spcPts val="0"/>
              </a:spcAft>
              <a:buNone/>
            </a:pPr>
            <a:r>
              <a:rPr lang="en-US" sz="1200">
                <a:solidFill>
                  <a:schemeClr val="dk1"/>
                </a:solidFill>
              </a:rPr>
              <a:t>If an unknown MAC address connects, it triggers a port violation, and the port is immediately shut down until an administrator can review the incident.</a:t>
            </a:r>
            <a:endParaRPr sz="1200">
              <a:solidFill>
                <a:schemeClr val="dk1"/>
              </a:solidFill>
            </a:endParaRPr>
          </a:p>
        </p:txBody>
      </p:sp>
      <p:sp>
        <p:nvSpPr>
          <p:cNvPr id="163" name="Google Shape;16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We want to briefly acknowledge the division of work on this project.</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Karrie: I handled the project planning, report compilation, and the video introduction, simulation, and demo.</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Camryn: I documented the device inventory, set up the initial topology in Packet Tracer, and contributed to the presentation and report.</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Daniel: I documented the network areas, wrote the security measures, and planned the VLAN and ACL designs.</a:t>
            </a:r>
            <a:endParaRPr sz="1200">
              <a:solidFill>
                <a:schemeClr val="dk1"/>
              </a:solidFill>
            </a:endParaRPr>
          </a:p>
        </p:txBody>
      </p:sp>
      <p:sp>
        <p:nvSpPr>
          <p:cNvPr id="178" name="Google Shape;178;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9" name="Google Shape;19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Daniel: In summary, this project successfully demonstrated how a tech startup can build a secure, scalable, and well-organized network. By combining VLAN segmentation, a DMZ, ACLs, and encrypted VPN access, we addressed the most common attack vectors a startup faces. Simulating the network in Cisco Packet Tracer was essential, allowing us to validate every design decision and reinforcing the critical need to plan security from the ground up. Thank you for your time.</a:t>
            </a:r>
            <a:endParaRPr sz="1200">
              <a:solidFill>
                <a:schemeClr val="dk1"/>
              </a:solidFill>
              <a:latin typeface="Arial"/>
              <a:ea typeface="Arial"/>
              <a:cs typeface="Arial"/>
              <a:sym typeface="Arial"/>
            </a:endParaRPr>
          </a:p>
        </p:txBody>
      </p:sp>
      <p:sp>
        <p:nvSpPr>
          <p:cNvPr id="200" name="Google Shape;20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11" name="Shape 11"/>
        <p:cNvGrpSpPr/>
        <p:nvPr/>
      </p:nvGrpSpPr>
      <p:grpSpPr>
        <a:xfrm>
          <a:off x="0" y="0"/>
          <a:ext cx="0" cy="0"/>
          <a:chOff x="0" y="0"/>
          <a:chExt cx="0" cy="0"/>
        </a:xfrm>
      </p:grpSpPr>
      <p:sp>
        <p:nvSpPr>
          <p:cNvPr id="12" name="Google Shape;12;p1"/>
          <p:cNvSpPr/>
          <p:nvPr/>
        </p:nvSpPr>
        <p:spPr>
          <a:xfrm>
            <a:off x="0" y="0"/>
            <a:ext cx="9144000" cy="54864"/>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 name="Google Shape;13;p1"/>
          <p:cNvPicPr preferRelativeResize="0"/>
          <p:nvPr/>
        </p:nvPicPr>
        <p:blipFill rotWithShape="1">
          <a:blip r:embed="rId3">
            <a:alphaModFix/>
          </a:blip>
          <a:srcRect b="0" l="0" r="0" t="0"/>
          <a:stretch/>
        </p:blipFill>
        <p:spPr>
          <a:xfrm>
            <a:off x="4114800" y="640080"/>
            <a:ext cx="914400" cy="914400"/>
          </a:xfrm>
          <a:prstGeom prst="rect">
            <a:avLst/>
          </a:prstGeom>
          <a:noFill/>
          <a:ln>
            <a:noFill/>
          </a:ln>
        </p:spPr>
      </p:pic>
      <p:sp>
        <p:nvSpPr>
          <p:cNvPr id="14" name="Google Shape;14;p1"/>
          <p:cNvSpPr/>
          <p:nvPr/>
        </p:nvSpPr>
        <p:spPr>
          <a:xfrm>
            <a:off x="731520" y="1645920"/>
            <a:ext cx="7680960" cy="1463040"/>
          </a:xfrm>
          <a:prstGeom prst="rect">
            <a:avLst/>
          </a:prstGeom>
          <a:noFill/>
          <a:ln>
            <a:noFill/>
          </a:ln>
        </p:spPr>
        <p:txBody>
          <a:bodyPr anchorCtr="0" anchor="ctr" bIns="45700" lIns="91425" spcFirstLastPara="1" rIns="91425" wrap="square" tIns="45700">
            <a:noAutofit/>
          </a:bodyPr>
          <a:lstStyle/>
          <a:p>
            <a:pPr indent="0" lvl="0" marL="0" marR="0" rtl="0" algn="ctr">
              <a:lnSpc>
                <a:spcPct val="120000"/>
              </a:lnSpc>
              <a:spcBef>
                <a:spcPts val="0"/>
              </a:spcBef>
              <a:spcAft>
                <a:spcPts val="0"/>
              </a:spcAft>
              <a:buClr>
                <a:srgbClr val="FFFFFF"/>
              </a:buClr>
              <a:buSzPts val="3000"/>
              <a:buFont typeface="Trebuchet MS"/>
              <a:buNone/>
            </a:pPr>
            <a:r>
              <a:rPr b="1" lang="en-US" sz="3000">
                <a:solidFill>
                  <a:srgbClr val="FFFFFF"/>
                </a:solidFill>
                <a:latin typeface="Trebuchet MS"/>
                <a:ea typeface="Trebuchet MS"/>
                <a:cs typeface="Trebuchet MS"/>
                <a:sym typeface="Trebuchet MS"/>
              </a:rPr>
              <a:t>Designing and Simulating a</a:t>
            </a:r>
            <a:endParaRPr sz="3000">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FFFFFF"/>
              </a:buClr>
              <a:buSzPts val="3000"/>
              <a:buFont typeface="Trebuchet MS"/>
              <a:buNone/>
            </a:pPr>
            <a:r>
              <a:rPr b="1" lang="en-US" sz="3000">
                <a:solidFill>
                  <a:srgbClr val="FFFFFF"/>
                </a:solidFill>
                <a:latin typeface="Trebuchet MS"/>
                <a:ea typeface="Trebuchet MS"/>
                <a:cs typeface="Trebuchet MS"/>
                <a:sym typeface="Trebuchet MS"/>
              </a:rPr>
              <a:t>Secure Tech Startup Network</a:t>
            </a:r>
            <a:endParaRPr sz="3000">
              <a:solidFill>
                <a:schemeClr val="dk1"/>
              </a:solidFill>
              <a:latin typeface="Calibri"/>
              <a:ea typeface="Calibri"/>
              <a:cs typeface="Calibri"/>
              <a:sym typeface="Calibri"/>
            </a:endParaRPr>
          </a:p>
        </p:txBody>
      </p:sp>
      <p:sp>
        <p:nvSpPr>
          <p:cNvPr id="15" name="Google Shape;15;p1"/>
          <p:cNvSpPr/>
          <p:nvPr/>
        </p:nvSpPr>
        <p:spPr>
          <a:xfrm>
            <a:off x="731520" y="3200400"/>
            <a:ext cx="7680960" cy="4572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D4AA"/>
              </a:buClr>
              <a:buSzPts val="1400"/>
              <a:buFont typeface="Calibri"/>
              <a:buNone/>
            </a:pPr>
            <a:r>
              <a:rPr lang="en-US" sz="1400">
                <a:solidFill>
                  <a:srgbClr val="00D4AA"/>
                </a:solidFill>
                <a:latin typeface="Calibri"/>
                <a:ea typeface="Calibri"/>
                <a:cs typeface="Calibri"/>
                <a:sym typeface="Calibri"/>
              </a:rPr>
              <a:t>VLAN Segmentation  |  DMZ  |  VPN Access</a:t>
            </a:r>
            <a:endParaRPr sz="1400">
              <a:solidFill>
                <a:schemeClr val="dk1"/>
              </a:solidFill>
              <a:latin typeface="Calibri"/>
              <a:ea typeface="Calibri"/>
              <a:cs typeface="Calibri"/>
              <a:sym typeface="Calibri"/>
            </a:endParaRPr>
          </a:p>
        </p:txBody>
      </p:sp>
      <p:sp>
        <p:nvSpPr>
          <p:cNvPr id="16" name="Google Shape;16;p1"/>
          <p:cNvSpPr/>
          <p:nvPr/>
        </p:nvSpPr>
        <p:spPr>
          <a:xfrm>
            <a:off x="3200400" y="3840480"/>
            <a:ext cx="2743200" cy="13716"/>
          </a:xfrm>
          <a:prstGeom prst="rect">
            <a:avLst/>
          </a:prstGeom>
          <a:solidFill>
            <a:srgbClr val="7F8F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1"/>
          <p:cNvSpPr/>
          <p:nvPr/>
        </p:nvSpPr>
        <p:spPr>
          <a:xfrm>
            <a:off x="731520" y="4023360"/>
            <a:ext cx="7680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F8FA6"/>
              </a:buClr>
              <a:buSzPts val="1200"/>
              <a:buFont typeface="Calibri"/>
              <a:buNone/>
            </a:pPr>
            <a:r>
              <a:rPr lang="en-US" sz="1200">
                <a:solidFill>
                  <a:srgbClr val="7F8FA6"/>
                </a:solidFill>
                <a:latin typeface="Calibri"/>
                <a:ea typeface="Calibri"/>
                <a:cs typeface="Calibri"/>
                <a:sym typeface="Calibri"/>
              </a:rPr>
              <a:t>CS 7/5344 — Computer Networks &amp;  </a:t>
            </a:r>
            <a:r>
              <a:rPr lang="en-US" sz="1200">
                <a:solidFill>
                  <a:srgbClr val="7F8FA6"/>
                </a:solidFill>
                <a:latin typeface="Calibri"/>
                <a:ea typeface="Calibri"/>
                <a:cs typeface="Calibri"/>
                <a:sym typeface="Calibri"/>
              </a:rPr>
              <a:t>Distribution</a:t>
            </a:r>
            <a:r>
              <a:rPr lang="en-US" sz="1200">
                <a:solidFill>
                  <a:srgbClr val="7F8FA6"/>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8" name="Google Shape;18;p1"/>
          <p:cNvSpPr/>
          <p:nvPr/>
        </p:nvSpPr>
        <p:spPr>
          <a:xfrm>
            <a:off x="731520" y="4434840"/>
            <a:ext cx="768096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8D6E5"/>
              </a:buClr>
              <a:buSzPts val="1300"/>
              <a:buFont typeface="Calibri"/>
              <a:buNone/>
            </a:pPr>
            <a:r>
              <a:rPr lang="en-US" sz="1300">
                <a:solidFill>
                  <a:srgbClr val="C8D6E5"/>
                </a:solidFill>
                <a:latin typeface="Calibri"/>
                <a:ea typeface="Calibri"/>
                <a:cs typeface="Calibri"/>
                <a:sym typeface="Calibri"/>
              </a:rPr>
              <a:t>Karrie Butcher   •   Camryn McPhaul   •   Daniel Opemipo Oni</a:t>
            </a:r>
            <a:endParaRPr sz="13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23" name="Shape 23"/>
        <p:cNvGrpSpPr/>
        <p:nvPr/>
      </p:nvGrpSpPr>
      <p:grpSpPr>
        <a:xfrm>
          <a:off x="0" y="0"/>
          <a:ext cx="0" cy="0"/>
          <a:chOff x="0" y="0"/>
          <a:chExt cx="0" cy="0"/>
        </a:xfrm>
      </p:grpSpPr>
      <p:sp>
        <p:nvSpPr>
          <p:cNvPr id="24" name="Google Shape;24;p2"/>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Project Overview</a:t>
            </a:r>
            <a:endParaRPr sz="3200">
              <a:solidFill>
                <a:schemeClr val="dk1"/>
              </a:solidFill>
              <a:latin typeface="Calibri"/>
              <a:ea typeface="Calibri"/>
              <a:cs typeface="Calibri"/>
              <a:sym typeface="Calibri"/>
            </a:endParaRPr>
          </a:p>
        </p:txBody>
      </p:sp>
      <p:sp>
        <p:nvSpPr>
          <p:cNvPr id="25" name="Google Shape;25;p2"/>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 name="Google Shape;26;p2"/>
          <p:cNvSpPr/>
          <p:nvPr/>
        </p:nvSpPr>
        <p:spPr>
          <a:xfrm>
            <a:off x="548640" y="1188720"/>
            <a:ext cx="8046720" cy="109728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C8D6E5"/>
              </a:buClr>
              <a:buSzPts val="1400"/>
              <a:buFont typeface="Calibri"/>
              <a:buNone/>
            </a:pPr>
            <a:r>
              <a:rPr lang="en-US" sz="1400">
                <a:solidFill>
                  <a:srgbClr val="C8D6E5"/>
                </a:solidFill>
                <a:latin typeface="Calibri"/>
                <a:ea typeface="Calibri"/>
                <a:cs typeface="Calibri"/>
                <a:sym typeface="Calibri"/>
              </a:rPr>
              <a:t>This project designs and simulates a secure network for a tech startup using Cisco Packet Tracer. The architecture follows a three-tier model (core, distribution, access) with department-level VLAN segmentation, a DMZ for public-facing servers, and a VPN gateway for remote employees.</a:t>
            </a:r>
            <a:endParaRPr sz="1400">
              <a:solidFill>
                <a:schemeClr val="dk1"/>
              </a:solidFill>
              <a:latin typeface="Calibri"/>
              <a:ea typeface="Calibri"/>
              <a:cs typeface="Calibri"/>
              <a:sym typeface="Calibri"/>
            </a:endParaRPr>
          </a:p>
        </p:txBody>
      </p:sp>
      <p:sp>
        <p:nvSpPr>
          <p:cNvPr id="27" name="Google Shape;27;p2"/>
          <p:cNvSpPr/>
          <p:nvPr/>
        </p:nvSpPr>
        <p:spPr>
          <a:xfrm>
            <a:off x="548640" y="2560320"/>
            <a:ext cx="2560320" cy="219456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 name="Google Shape;28;p2"/>
          <p:cNvPicPr preferRelativeResize="0"/>
          <p:nvPr/>
        </p:nvPicPr>
        <p:blipFill rotWithShape="1">
          <a:blip r:embed="rId3">
            <a:alphaModFix/>
          </a:blip>
          <a:srcRect b="0" l="0" r="0" t="0"/>
          <a:stretch/>
        </p:blipFill>
        <p:spPr>
          <a:xfrm>
            <a:off x="1508760" y="2743200"/>
            <a:ext cx="502920" cy="502920"/>
          </a:xfrm>
          <a:prstGeom prst="rect">
            <a:avLst/>
          </a:prstGeom>
          <a:noFill/>
          <a:ln>
            <a:noFill/>
          </a:ln>
        </p:spPr>
      </p:pic>
      <p:sp>
        <p:nvSpPr>
          <p:cNvPr id="29" name="Google Shape;29;p2"/>
          <p:cNvSpPr/>
          <p:nvPr/>
        </p:nvSpPr>
        <p:spPr>
          <a:xfrm>
            <a:off x="685800" y="3337560"/>
            <a:ext cx="2286000"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Three-Tier</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Architecture</a:t>
            </a:r>
            <a:endParaRPr sz="1300">
              <a:solidFill>
                <a:schemeClr val="dk1"/>
              </a:solidFill>
              <a:latin typeface="Calibri"/>
              <a:ea typeface="Calibri"/>
              <a:cs typeface="Calibri"/>
              <a:sym typeface="Calibri"/>
            </a:endParaRPr>
          </a:p>
        </p:txBody>
      </p:sp>
      <p:sp>
        <p:nvSpPr>
          <p:cNvPr id="30" name="Google Shape;30;p2"/>
          <p:cNvSpPr/>
          <p:nvPr/>
        </p:nvSpPr>
        <p:spPr>
          <a:xfrm>
            <a:off x="685800" y="3931920"/>
            <a:ext cx="22860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7F8FA6"/>
              </a:buClr>
              <a:buSzPts val="1100"/>
              <a:buFont typeface="Calibri"/>
              <a:buNone/>
            </a:pPr>
            <a:r>
              <a:rPr lang="en-US" sz="1100">
                <a:solidFill>
                  <a:srgbClr val="7F8FA6"/>
                </a:solidFill>
                <a:latin typeface="Calibri"/>
                <a:ea typeface="Calibri"/>
                <a:cs typeface="Calibri"/>
                <a:sym typeface="Calibri"/>
              </a:rPr>
              <a:t>Core, distribution, and access layers for scalable routing</a:t>
            </a:r>
            <a:endParaRPr sz="1100">
              <a:solidFill>
                <a:schemeClr val="dk1"/>
              </a:solidFill>
              <a:latin typeface="Calibri"/>
              <a:ea typeface="Calibri"/>
              <a:cs typeface="Calibri"/>
              <a:sym typeface="Calibri"/>
            </a:endParaRPr>
          </a:p>
        </p:txBody>
      </p:sp>
      <p:sp>
        <p:nvSpPr>
          <p:cNvPr id="31" name="Google Shape;31;p2"/>
          <p:cNvSpPr/>
          <p:nvPr/>
        </p:nvSpPr>
        <p:spPr>
          <a:xfrm>
            <a:off x="3383280" y="2560320"/>
            <a:ext cx="2560320" cy="219456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2" name="Google Shape;32;p2"/>
          <p:cNvPicPr preferRelativeResize="0"/>
          <p:nvPr/>
        </p:nvPicPr>
        <p:blipFill rotWithShape="1">
          <a:blip r:embed="rId4">
            <a:alphaModFix/>
          </a:blip>
          <a:srcRect b="0" l="0" r="0" t="0"/>
          <a:stretch/>
        </p:blipFill>
        <p:spPr>
          <a:xfrm>
            <a:off x="4343400" y="2743200"/>
            <a:ext cx="502920" cy="502920"/>
          </a:xfrm>
          <a:prstGeom prst="rect">
            <a:avLst/>
          </a:prstGeom>
          <a:noFill/>
          <a:ln>
            <a:noFill/>
          </a:ln>
        </p:spPr>
      </p:pic>
      <p:sp>
        <p:nvSpPr>
          <p:cNvPr id="33" name="Google Shape;33;p2"/>
          <p:cNvSpPr/>
          <p:nvPr/>
        </p:nvSpPr>
        <p:spPr>
          <a:xfrm>
            <a:off x="3520440" y="3337560"/>
            <a:ext cx="2286000"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Defense in</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Depth</a:t>
            </a:r>
            <a:endParaRPr sz="1300">
              <a:solidFill>
                <a:schemeClr val="dk1"/>
              </a:solidFill>
              <a:latin typeface="Calibri"/>
              <a:ea typeface="Calibri"/>
              <a:cs typeface="Calibri"/>
              <a:sym typeface="Calibri"/>
            </a:endParaRPr>
          </a:p>
        </p:txBody>
      </p:sp>
      <p:sp>
        <p:nvSpPr>
          <p:cNvPr id="34" name="Google Shape;34;p2"/>
          <p:cNvSpPr/>
          <p:nvPr/>
        </p:nvSpPr>
        <p:spPr>
          <a:xfrm>
            <a:off x="3520440" y="3931920"/>
            <a:ext cx="22860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7F8FA6"/>
              </a:buClr>
              <a:buSzPts val="1100"/>
              <a:buFont typeface="Calibri"/>
              <a:buNone/>
            </a:pPr>
            <a:r>
              <a:rPr lang="en-US" sz="1100">
                <a:solidFill>
                  <a:srgbClr val="7F8FA6"/>
                </a:solidFill>
                <a:latin typeface="Calibri"/>
                <a:ea typeface="Calibri"/>
                <a:cs typeface="Calibri"/>
                <a:sym typeface="Calibri"/>
              </a:rPr>
              <a:t>Firewall, VLANs, ACLs, and port security at every layer</a:t>
            </a:r>
            <a:endParaRPr sz="1100">
              <a:solidFill>
                <a:schemeClr val="dk1"/>
              </a:solidFill>
              <a:latin typeface="Calibri"/>
              <a:ea typeface="Calibri"/>
              <a:cs typeface="Calibri"/>
              <a:sym typeface="Calibri"/>
            </a:endParaRPr>
          </a:p>
        </p:txBody>
      </p:sp>
      <p:sp>
        <p:nvSpPr>
          <p:cNvPr id="35" name="Google Shape;35;p2"/>
          <p:cNvSpPr/>
          <p:nvPr/>
        </p:nvSpPr>
        <p:spPr>
          <a:xfrm>
            <a:off x="6217920" y="2560320"/>
            <a:ext cx="2560320" cy="219456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6" name="Google Shape;36;p2"/>
          <p:cNvPicPr preferRelativeResize="0"/>
          <p:nvPr/>
        </p:nvPicPr>
        <p:blipFill rotWithShape="1">
          <a:blip r:embed="rId5">
            <a:alphaModFix/>
          </a:blip>
          <a:srcRect b="0" l="0" r="0" t="0"/>
          <a:stretch/>
        </p:blipFill>
        <p:spPr>
          <a:xfrm>
            <a:off x="7178040" y="2743200"/>
            <a:ext cx="502920" cy="502920"/>
          </a:xfrm>
          <a:prstGeom prst="rect">
            <a:avLst/>
          </a:prstGeom>
          <a:noFill/>
          <a:ln>
            <a:noFill/>
          </a:ln>
        </p:spPr>
      </p:pic>
      <p:sp>
        <p:nvSpPr>
          <p:cNvPr id="37" name="Google Shape;37;p2"/>
          <p:cNvSpPr/>
          <p:nvPr/>
        </p:nvSpPr>
        <p:spPr>
          <a:xfrm>
            <a:off x="6355080" y="3337560"/>
            <a:ext cx="2286000" cy="594360"/>
          </a:xfrm>
          <a:prstGeom prst="rect">
            <a:avLst/>
          </a:prstGeom>
          <a:noFill/>
          <a:ln>
            <a:noFill/>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Remote Access</a:t>
            </a:r>
            <a:endParaRPr sz="1300">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Ready</a:t>
            </a:r>
            <a:endParaRPr sz="1300">
              <a:solidFill>
                <a:schemeClr val="dk1"/>
              </a:solidFill>
              <a:latin typeface="Calibri"/>
              <a:ea typeface="Calibri"/>
              <a:cs typeface="Calibri"/>
              <a:sym typeface="Calibri"/>
            </a:endParaRPr>
          </a:p>
        </p:txBody>
      </p:sp>
      <p:sp>
        <p:nvSpPr>
          <p:cNvPr id="38" name="Google Shape;38;p2"/>
          <p:cNvSpPr/>
          <p:nvPr/>
        </p:nvSpPr>
        <p:spPr>
          <a:xfrm>
            <a:off x="6355080" y="3931920"/>
            <a:ext cx="2286000" cy="640080"/>
          </a:xfrm>
          <a:prstGeom prst="rect">
            <a:avLst/>
          </a:prstGeom>
          <a:noFill/>
          <a:ln>
            <a:noFill/>
          </a:ln>
        </p:spPr>
        <p:txBody>
          <a:bodyPr anchorCtr="0" anchor="ctr" bIns="45700" lIns="91425" spcFirstLastPara="1" rIns="91425" wrap="square" tIns="45700">
            <a:noAutofit/>
          </a:bodyPr>
          <a:lstStyle/>
          <a:p>
            <a:pPr indent="0" lvl="0" marL="0" marR="0" rtl="0" algn="ctr">
              <a:lnSpc>
                <a:spcPct val="130000"/>
              </a:lnSpc>
              <a:spcBef>
                <a:spcPts val="0"/>
              </a:spcBef>
              <a:spcAft>
                <a:spcPts val="0"/>
              </a:spcAft>
              <a:buClr>
                <a:srgbClr val="7F8FA6"/>
              </a:buClr>
              <a:buSzPts val="1100"/>
              <a:buFont typeface="Calibri"/>
              <a:buNone/>
            </a:pPr>
            <a:r>
              <a:rPr lang="en-US" sz="1100">
                <a:solidFill>
                  <a:srgbClr val="7F8FA6"/>
                </a:solidFill>
                <a:latin typeface="Calibri"/>
                <a:ea typeface="Calibri"/>
                <a:cs typeface="Calibri"/>
                <a:sym typeface="Calibri"/>
              </a:rPr>
              <a:t>IPSec VPN gateway for secure off-site connectivity</a:t>
            </a:r>
            <a:endParaRPr sz="11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43" name="Shape 43"/>
        <p:cNvGrpSpPr/>
        <p:nvPr/>
      </p:nvGrpSpPr>
      <p:grpSpPr>
        <a:xfrm>
          <a:off x="0" y="0"/>
          <a:ext cx="0" cy="0"/>
          <a:chOff x="0" y="0"/>
          <a:chExt cx="0" cy="0"/>
        </a:xfrm>
      </p:grpSpPr>
      <p:sp>
        <p:nvSpPr>
          <p:cNvPr id="44" name="Google Shape;44;p3"/>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Device Inventory</a:t>
            </a:r>
            <a:endParaRPr sz="3200">
              <a:solidFill>
                <a:schemeClr val="dk1"/>
              </a:solidFill>
              <a:latin typeface="Calibri"/>
              <a:ea typeface="Calibri"/>
              <a:cs typeface="Calibri"/>
              <a:sym typeface="Calibri"/>
            </a:endParaRPr>
          </a:p>
        </p:txBody>
      </p:sp>
      <p:sp>
        <p:nvSpPr>
          <p:cNvPr id="45" name="Google Shape;45;p3"/>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3"/>
          <p:cNvSpPr/>
          <p:nvPr/>
        </p:nvSpPr>
        <p:spPr>
          <a:xfrm>
            <a:off x="548640" y="1051560"/>
            <a:ext cx="8046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FA6"/>
              </a:buClr>
              <a:buSzPts val="1300"/>
              <a:buFont typeface="Calibri"/>
              <a:buNone/>
            </a:pPr>
            <a:r>
              <a:rPr lang="en-US" sz="1300">
                <a:solidFill>
                  <a:srgbClr val="7F8FA6"/>
                </a:solidFill>
                <a:latin typeface="Calibri"/>
                <a:ea typeface="Calibri"/>
                <a:cs typeface="Calibri"/>
                <a:sym typeface="Calibri"/>
              </a:rPr>
              <a:t>21 devices across 10 device types</a:t>
            </a:r>
            <a:endParaRPr sz="1300">
              <a:solidFill>
                <a:schemeClr val="dk1"/>
              </a:solidFill>
              <a:latin typeface="Calibri"/>
              <a:ea typeface="Calibri"/>
              <a:cs typeface="Calibri"/>
              <a:sym typeface="Calibri"/>
            </a:endParaRPr>
          </a:p>
        </p:txBody>
      </p:sp>
      <p:graphicFrame>
        <p:nvGraphicFramePr>
          <p:cNvPr id="47" name="Google Shape;47;p3"/>
          <p:cNvGraphicFramePr/>
          <p:nvPr/>
        </p:nvGraphicFramePr>
        <p:xfrm>
          <a:off x="548640" y="1508760"/>
          <a:ext cx="3000000" cy="3000000"/>
        </p:xfrm>
        <a:graphic>
          <a:graphicData uri="http://schemas.openxmlformats.org/drawingml/2006/table">
            <a:tbl>
              <a:tblPr>
                <a:noFill/>
                <a:tableStyleId>{EC98A86C-BF8F-40B2-8BF4-487442ABF2EF}</a:tableStyleId>
              </a:tblPr>
              <a:tblGrid>
                <a:gridCol w="2286000"/>
                <a:gridCol w="640075"/>
                <a:gridCol w="5120650"/>
              </a:tblGrid>
              <a:tr h="320050">
                <a:tc>
                  <a:txBody>
                    <a:bodyPr/>
                    <a:lstStyle/>
                    <a:p>
                      <a:pPr indent="0" lvl="0" marL="0" marR="0" rtl="0" algn="l">
                        <a:spcBef>
                          <a:spcPts val="0"/>
                        </a:spcBef>
                        <a:spcAft>
                          <a:spcPts val="0"/>
                        </a:spcAft>
                        <a:buClr>
                          <a:srgbClr val="0A1628"/>
                        </a:buClr>
                        <a:buSzPts val="1100"/>
                        <a:buFont typeface="Calibri"/>
                        <a:buNone/>
                      </a:pPr>
                      <a:r>
                        <a:rPr b="1" lang="en-US" sz="1100" u="none" cap="none" strike="noStrike">
                          <a:solidFill>
                            <a:srgbClr val="0A1628"/>
                          </a:solidFill>
                          <a:latin typeface="Calibri"/>
                          <a:ea typeface="Calibri"/>
                          <a:cs typeface="Calibri"/>
                          <a:sym typeface="Calibri"/>
                        </a:rPr>
                        <a:t>Device Type</a:t>
                      </a:r>
                      <a:endParaRPr sz="11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00D4AA"/>
                    </a:solidFill>
                  </a:tcPr>
                </a:tc>
                <a:tc>
                  <a:txBody>
                    <a:bodyPr/>
                    <a:lstStyle/>
                    <a:p>
                      <a:pPr indent="0" lvl="0" marL="0" marR="0" rtl="0" algn="ctr">
                        <a:spcBef>
                          <a:spcPts val="0"/>
                        </a:spcBef>
                        <a:spcAft>
                          <a:spcPts val="0"/>
                        </a:spcAft>
                        <a:buClr>
                          <a:srgbClr val="0A1628"/>
                        </a:buClr>
                        <a:buSzPts val="1100"/>
                        <a:buFont typeface="Calibri"/>
                        <a:buNone/>
                      </a:pPr>
                      <a:r>
                        <a:rPr b="1" lang="en-US" sz="1100" u="none" cap="none" strike="noStrike">
                          <a:solidFill>
                            <a:srgbClr val="0A1628"/>
                          </a:solidFill>
                          <a:latin typeface="Calibri"/>
                          <a:ea typeface="Calibri"/>
                          <a:cs typeface="Calibri"/>
                          <a:sym typeface="Calibri"/>
                        </a:rPr>
                        <a:t>Qty</a:t>
                      </a:r>
                      <a:endParaRPr sz="11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00D4AA"/>
                    </a:solidFill>
                  </a:tcPr>
                </a:tc>
                <a:tc>
                  <a:txBody>
                    <a:bodyPr/>
                    <a:lstStyle/>
                    <a:p>
                      <a:pPr indent="0" lvl="0" marL="0" marR="0" rtl="0" algn="l">
                        <a:spcBef>
                          <a:spcPts val="0"/>
                        </a:spcBef>
                        <a:spcAft>
                          <a:spcPts val="0"/>
                        </a:spcAft>
                        <a:buClr>
                          <a:srgbClr val="0A1628"/>
                        </a:buClr>
                        <a:buSzPts val="1100"/>
                        <a:buFont typeface="Calibri"/>
                        <a:buNone/>
                      </a:pPr>
                      <a:r>
                        <a:rPr b="1" lang="en-US" sz="1100" u="none" cap="none" strike="noStrike">
                          <a:solidFill>
                            <a:srgbClr val="0A1628"/>
                          </a:solidFill>
                          <a:latin typeface="Calibri"/>
                          <a:ea typeface="Calibri"/>
                          <a:cs typeface="Calibri"/>
                          <a:sym typeface="Calibri"/>
                        </a:rPr>
                        <a:t>Role</a:t>
                      </a:r>
                      <a:endParaRPr sz="11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00D4AA"/>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Core Router</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Central routing and backbone connectivity</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L3 Distribution Switch</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2</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Inter-VLAN routing and ACL enforcement</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L2 Access Switch</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3</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End devices in HR, Engineering, Finance</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Firewall (ASA 5505)</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Perimeter security between zones</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VPN Gateway Router</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Encrypted remote access</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Web Server</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Public website in DMZ</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Email Server</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Email service in DMZ</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Department PCs</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9</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3 per VLAN (HR, Eng, Finance)</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Remote Laptop</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Simulates remote VPN employee</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42840"/>
                    </a:solidFill>
                  </a:tcPr>
                </a:tc>
              </a:tr>
              <a:tr h="292600">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Internet Cloud Node</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ctr">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1</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c>
                  <a:txBody>
                    <a:bodyPr/>
                    <a:lstStyle/>
                    <a:p>
                      <a:pPr indent="0" lvl="0" marL="0" marR="0" rtl="0" algn="l">
                        <a:spcBef>
                          <a:spcPts val="0"/>
                        </a:spcBef>
                        <a:spcAft>
                          <a:spcPts val="0"/>
                        </a:spcAft>
                        <a:buClr>
                          <a:srgbClr val="C8D6E5"/>
                        </a:buClr>
                        <a:buSzPts val="1000"/>
                        <a:buFont typeface="Calibri"/>
                        <a:buNone/>
                      </a:pPr>
                      <a:r>
                        <a:rPr lang="en-US" sz="1000" u="none" cap="none" strike="noStrike">
                          <a:solidFill>
                            <a:srgbClr val="C8D6E5"/>
                          </a:solidFill>
                          <a:latin typeface="Calibri"/>
                          <a:ea typeface="Calibri"/>
                          <a:cs typeface="Calibri"/>
                          <a:sym typeface="Calibri"/>
                        </a:rPr>
                        <a:t>External internet connection</a:t>
                      </a:r>
                      <a:endParaRPr sz="1000" u="none" cap="none" strike="noStrike">
                        <a:latin typeface="Calibri"/>
                        <a:ea typeface="Calibri"/>
                        <a:cs typeface="Calibri"/>
                        <a:sym typeface="Calibri"/>
                      </a:endParaRPr>
                    </a:p>
                  </a:txBody>
                  <a:tcPr marT="45725" marB="45725" marR="91450" marL="91450">
                    <a:lnL cap="flat" cmpd="sng" w="9525">
                      <a:solidFill>
                        <a:srgbClr val="1A3352"/>
                      </a:solidFill>
                      <a:prstDash val="solid"/>
                      <a:round/>
                      <a:headEnd len="sm" w="sm" type="none"/>
                      <a:tailEnd len="sm" w="sm" type="none"/>
                    </a:lnL>
                    <a:lnR cap="flat" cmpd="sng" w="9525">
                      <a:solidFill>
                        <a:srgbClr val="1A3352"/>
                      </a:solidFill>
                      <a:prstDash val="solid"/>
                      <a:round/>
                      <a:headEnd len="sm" w="sm" type="none"/>
                      <a:tailEnd len="sm" w="sm" type="none"/>
                    </a:lnR>
                    <a:lnT cap="flat" cmpd="sng" w="9525">
                      <a:solidFill>
                        <a:srgbClr val="1A3352"/>
                      </a:solidFill>
                      <a:prstDash val="solid"/>
                      <a:round/>
                      <a:headEnd len="sm" w="sm" type="none"/>
                      <a:tailEnd len="sm" w="sm" type="none"/>
                    </a:lnT>
                    <a:lnB cap="flat" cmpd="sng" w="9525">
                      <a:solidFill>
                        <a:srgbClr val="1A3352"/>
                      </a:solidFill>
                      <a:prstDash val="solid"/>
                      <a:round/>
                      <a:headEnd len="sm" w="sm" type="none"/>
                      <a:tailEnd len="sm" w="sm" type="none"/>
                    </a:lnB>
                    <a:solidFill>
                      <a:srgbClr val="1A335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52" name="Shape 52"/>
        <p:cNvGrpSpPr/>
        <p:nvPr/>
      </p:nvGrpSpPr>
      <p:grpSpPr>
        <a:xfrm>
          <a:off x="0" y="0"/>
          <a:ext cx="0" cy="0"/>
          <a:chOff x="0" y="0"/>
          <a:chExt cx="0" cy="0"/>
        </a:xfrm>
      </p:grpSpPr>
      <p:sp>
        <p:nvSpPr>
          <p:cNvPr id="53" name="Google Shape;53;p4"/>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Network Topology</a:t>
            </a:r>
            <a:endParaRPr sz="3200">
              <a:solidFill>
                <a:schemeClr val="dk1"/>
              </a:solidFill>
              <a:latin typeface="Calibri"/>
              <a:ea typeface="Calibri"/>
              <a:cs typeface="Calibri"/>
              <a:sym typeface="Calibri"/>
            </a:endParaRPr>
          </a:p>
        </p:txBody>
      </p:sp>
      <p:sp>
        <p:nvSpPr>
          <p:cNvPr id="54" name="Google Shape;54;p4"/>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 name="Google Shape;55;p4"/>
          <p:cNvSpPr/>
          <p:nvPr/>
        </p:nvSpPr>
        <p:spPr>
          <a:xfrm>
            <a:off x="548640" y="1097280"/>
            <a:ext cx="80467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FA6"/>
              </a:buClr>
              <a:buSzPts val="1300"/>
              <a:buFont typeface="Calibri"/>
              <a:buNone/>
            </a:pPr>
            <a:r>
              <a:rPr lang="en-US" sz="1300">
                <a:solidFill>
                  <a:srgbClr val="7F8FA6"/>
                </a:solidFill>
                <a:latin typeface="Calibri"/>
                <a:ea typeface="Calibri"/>
                <a:cs typeface="Calibri"/>
                <a:sym typeface="Calibri"/>
              </a:rPr>
              <a:t>Cisco Packet Tracer — Initial Logical View</a:t>
            </a:r>
            <a:endParaRPr sz="1300">
              <a:solidFill>
                <a:schemeClr val="dk1"/>
              </a:solidFill>
              <a:latin typeface="Calibri"/>
              <a:ea typeface="Calibri"/>
              <a:cs typeface="Calibri"/>
              <a:sym typeface="Calibri"/>
            </a:endParaRPr>
          </a:p>
        </p:txBody>
      </p:sp>
      <p:pic>
        <p:nvPicPr>
          <p:cNvPr id="56" name="Google Shape;56;p4"/>
          <p:cNvPicPr preferRelativeResize="0"/>
          <p:nvPr/>
        </p:nvPicPr>
        <p:blipFill rotWithShape="1">
          <a:blip r:embed="rId3">
            <a:alphaModFix/>
          </a:blip>
          <a:srcRect b="0" l="0" r="0" t="0"/>
          <a:stretch/>
        </p:blipFill>
        <p:spPr>
          <a:xfrm>
            <a:off x="1417320" y="1655064"/>
            <a:ext cx="6850380" cy="312877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61" name="Shape 61"/>
        <p:cNvGrpSpPr/>
        <p:nvPr/>
      </p:nvGrpSpPr>
      <p:grpSpPr>
        <a:xfrm>
          <a:off x="0" y="0"/>
          <a:ext cx="0" cy="0"/>
          <a:chOff x="0" y="0"/>
          <a:chExt cx="0" cy="0"/>
        </a:xfrm>
      </p:grpSpPr>
      <p:sp>
        <p:nvSpPr>
          <p:cNvPr id="62" name="Google Shape;62;g3d2b61e3b18_1_0"/>
          <p:cNvSpPr/>
          <p:nvPr/>
        </p:nvSpPr>
        <p:spPr>
          <a:xfrm>
            <a:off x="548640" y="274320"/>
            <a:ext cx="8046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Network Topology</a:t>
            </a:r>
            <a:endParaRPr sz="3200">
              <a:solidFill>
                <a:schemeClr val="dk1"/>
              </a:solidFill>
              <a:latin typeface="Calibri"/>
              <a:ea typeface="Calibri"/>
              <a:cs typeface="Calibri"/>
              <a:sym typeface="Calibri"/>
            </a:endParaRPr>
          </a:p>
        </p:txBody>
      </p:sp>
      <p:sp>
        <p:nvSpPr>
          <p:cNvPr id="63" name="Google Shape;63;g3d2b61e3b18_1_0"/>
          <p:cNvSpPr/>
          <p:nvPr/>
        </p:nvSpPr>
        <p:spPr>
          <a:xfrm>
            <a:off x="548640" y="914400"/>
            <a:ext cx="1097400" cy="36600"/>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g3d2b61e3b18_1_0"/>
          <p:cNvSpPr/>
          <p:nvPr/>
        </p:nvSpPr>
        <p:spPr>
          <a:xfrm>
            <a:off x="548640" y="1097280"/>
            <a:ext cx="80466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F8FA6"/>
              </a:buClr>
              <a:buSzPts val="1300"/>
              <a:buFont typeface="Calibri"/>
              <a:buNone/>
            </a:pPr>
            <a:r>
              <a:rPr lang="en-US" sz="1300">
                <a:solidFill>
                  <a:srgbClr val="7F8FA6"/>
                </a:solidFill>
                <a:latin typeface="Calibri"/>
                <a:ea typeface="Calibri"/>
                <a:cs typeface="Calibri"/>
                <a:sym typeface="Calibri"/>
              </a:rPr>
              <a:t>Cisco Packet Tracer — Final  Logical  View</a:t>
            </a:r>
            <a:endParaRPr sz="1300">
              <a:solidFill>
                <a:schemeClr val="dk1"/>
              </a:solidFill>
              <a:latin typeface="Calibri"/>
              <a:ea typeface="Calibri"/>
              <a:cs typeface="Calibri"/>
              <a:sym typeface="Calibri"/>
            </a:endParaRPr>
          </a:p>
        </p:txBody>
      </p:sp>
      <p:pic>
        <p:nvPicPr>
          <p:cNvPr id="65" name="Google Shape;65;g3d2b61e3b18_1_0" title="final-connections-6.png"/>
          <p:cNvPicPr preferRelativeResize="0"/>
          <p:nvPr/>
        </p:nvPicPr>
        <p:blipFill rotWithShape="1">
          <a:blip r:embed="rId3">
            <a:alphaModFix/>
          </a:blip>
          <a:srcRect b="21166" l="0" r="0" t="21051"/>
          <a:stretch/>
        </p:blipFill>
        <p:spPr>
          <a:xfrm>
            <a:off x="80689" y="1508875"/>
            <a:ext cx="8834708" cy="31905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70" name="Shape 70"/>
        <p:cNvGrpSpPr/>
        <p:nvPr/>
      </p:nvGrpSpPr>
      <p:grpSpPr>
        <a:xfrm>
          <a:off x="0" y="0"/>
          <a:ext cx="0" cy="0"/>
          <a:chOff x="0" y="0"/>
          <a:chExt cx="0" cy="0"/>
        </a:xfrm>
      </p:grpSpPr>
      <p:sp>
        <p:nvSpPr>
          <p:cNvPr id="71" name="Google Shape;71;p5"/>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Five Major Network Areas</a:t>
            </a:r>
            <a:endParaRPr sz="3200">
              <a:solidFill>
                <a:schemeClr val="dk1"/>
              </a:solidFill>
              <a:latin typeface="Calibri"/>
              <a:ea typeface="Calibri"/>
              <a:cs typeface="Calibri"/>
              <a:sym typeface="Calibri"/>
            </a:endParaRPr>
          </a:p>
        </p:txBody>
      </p:sp>
      <p:sp>
        <p:nvSpPr>
          <p:cNvPr id="72" name="Google Shape;72;p5"/>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 name="Google Shape;73;p5"/>
          <p:cNvSpPr/>
          <p:nvPr/>
        </p:nvSpPr>
        <p:spPr>
          <a:xfrm>
            <a:off x="548640" y="1188720"/>
            <a:ext cx="2560320" cy="155448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5"/>
          <p:cNvSpPr/>
          <p:nvPr/>
        </p:nvSpPr>
        <p:spPr>
          <a:xfrm>
            <a:off x="685800" y="1371600"/>
            <a:ext cx="411480" cy="411480"/>
          </a:xfrm>
          <a:prstGeom prst="ellipse">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 name="Google Shape;75;p5"/>
          <p:cNvSpPr/>
          <p:nvPr/>
        </p:nvSpPr>
        <p:spPr>
          <a:xfrm>
            <a:off x="685800" y="13716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Trebuchet MS"/>
              <a:buNone/>
            </a:pPr>
            <a:r>
              <a:rPr b="1" lang="en-US" sz="1600">
                <a:solidFill>
                  <a:srgbClr val="0A1628"/>
                </a:solidFill>
                <a:latin typeface="Trebuchet MS"/>
                <a:ea typeface="Trebuchet MS"/>
                <a:cs typeface="Trebuchet MS"/>
                <a:sym typeface="Trebuchet MS"/>
              </a:rPr>
              <a:t>1</a:t>
            </a:r>
            <a:endParaRPr sz="1600">
              <a:solidFill>
                <a:schemeClr val="dk1"/>
              </a:solidFill>
              <a:latin typeface="Calibri"/>
              <a:ea typeface="Calibri"/>
              <a:cs typeface="Calibri"/>
              <a:sym typeface="Calibri"/>
            </a:endParaRPr>
          </a:p>
        </p:txBody>
      </p:sp>
      <p:sp>
        <p:nvSpPr>
          <p:cNvPr id="76" name="Google Shape;76;p5"/>
          <p:cNvSpPr/>
          <p:nvPr/>
        </p:nvSpPr>
        <p:spPr>
          <a:xfrm>
            <a:off x="1188720" y="1371600"/>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Core Layer</a:t>
            </a:r>
            <a:endParaRPr sz="1400">
              <a:solidFill>
                <a:schemeClr val="dk1"/>
              </a:solidFill>
              <a:latin typeface="Calibri"/>
              <a:ea typeface="Calibri"/>
              <a:cs typeface="Calibri"/>
              <a:sym typeface="Calibri"/>
            </a:endParaRPr>
          </a:p>
        </p:txBody>
      </p:sp>
      <p:sp>
        <p:nvSpPr>
          <p:cNvPr id="77" name="Google Shape;77;p5"/>
          <p:cNvSpPr/>
          <p:nvPr/>
        </p:nvSpPr>
        <p:spPr>
          <a:xfrm>
            <a:off x="685800" y="1920240"/>
            <a:ext cx="22860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Backbone connecting distribution switches for fast inter-segment traffic</a:t>
            </a:r>
            <a:endParaRPr sz="1100">
              <a:solidFill>
                <a:schemeClr val="dk1"/>
              </a:solidFill>
              <a:latin typeface="Calibri"/>
              <a:ea typeface="Calibri"/>
              <a:cs typeface="Calibri"/>
              <a:sym typeface="Calibri"/>
            </a:endParaRPr>
          </a:p>
        </p:txBody>
      </p:sp>
      <p:sp>
        <p:nvSpPr>
          <p:cNvPr id="78" name="Google Shape;78;p5"/>
          <p:cNvSpPr/>
          <p:nvPr/>
        </p:nvSpPr>
        <p:spPr>
          <a:xfrm>
            <a:off x="3383280" y="1188720"/>
            <a:ext cx="2560320" cy="155448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5"/>
          <p:cNvSpPr/>
          <p:nvPr/>
        </p:nvSpPr>
        <p:spPr>
          <a:xfrm>
            <a:off x="3520440" y="1371600"/>
            <a:ext cx="411480" cy="411480"/>
          </a:xfrm>
          <a:prstGeom prst="ellipse">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5"/>
          <p:cNvSpPr/>
          <p:nvPr/>
        </p:nvSpPr>
        <p:spPr>
          <a:xfrm>
            <a:off x="3520440" y="13716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Trebuchet MS"/>
              <a:buNone/>
            </a:pPr>
            <a:r>
              <a:rPr b="1" lang="en-US" sz="1600">
                <a:solidFill>
                  <a:srgbClr val="0A1628"/>
                </a:solidFill>
                <a:latin typeface="Trebuchet MS"/>
                <a:ea typeface="Trebuchet MS"/>
                <a:cs typeface="Trebuchet MS"/>
                <a:sym typeface="Trebuchet MS"/>
              </a:rPr>
              <a:t>2</a:t>
            </a:r>
            <a:endParaRPr sz="1600">
              <a:solidFill>
                <a:schemeClr val="dk1"/>
              </a:solidFill>
              <a:latin typeface="Calibri"/>
              <a:ea typeface="Calibri"/>
              <a:cs typeface="Calibri"/>
              <a:sym typeface="Calibri"/>
            </a:endParaRPr>
          </a:p>
        </p:txBody>
      </p:sp>
      <p:sp>
        <p:nvSpPr>
          <p:cNvPr id="81" name="Google Shape;81;p5"/>
          <p:cNvSpPr/>
          <p:nvPr/>
        </p:nvSpPr>
        <p:spPr>
          <a:xfrm>
            <a:off x="4023360" y="1371600"/>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Distribution Layer</a:t>
            </a:r>
            <a:endParaRPr sz="1400">
              <a:solidFill>
                <a:schemeClr val="dk1"/>
              </a:solidFill>
              <a:latin typeface="Calibri"/>
              <a:ea typeface="Calibri"/>
              <a:cs typeface="Calibri"/>
              <a:sym typeface="Calibri"/>
            </a:endParaRPr>
          </a:p>
        </p:txBody>
      </p:sp>
      <p:sp>
        <p:nvSpPr>
          <p:cNvPr id="82" name="Google Shape;82;p5"/>
          <p:cNvSpPr/>
          <p:nvPr/>
        </p:nvSpPr>
        <p:spPr>
          <a:xfrm>
            <a:off x="3520440" y="1920240"/>
            <a:ext cx="22860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Routes between VLANs and enforces inter-department policies</a:t>
            </a:r>
            <a:endParaRPr sz="1100">
              <a:solidFill>
                <a:schemeClr val="dk1"/>
              </a:solidFill>
              <a:latin typeface="Calibri"/>
              <a:ea typeface="Calibri"/>
              <a:cs typeface="Calibri"/>
              <a:sym typeface="Calibri"/>
            </a:endParaRPr>
          </a:p>
        </p:txBody>
      </p:sp>
      <p:sp>
        <p:nvSpPr>
          <p:cNvPr id="83" name="Google Shape;83;p5"/>
          <p:cNvSpPr/>
          <p:nvPr/>
        </p:nvSpPr>
        <p:spPr>
          <a:xfrm>
            <a:off x="6217920" y="1188720"/>
            <a:ext cx="2560320" cy="155448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5"/>
          <p:cNvSpPr/>
          <p:nvPr/>
        </p:nvSpPr>
        <p:spPr>
          <a:xfrm>
            <a:off x="6355080" y="1371600"/>
            <a:ext cx="411480" cy="411480"/>
          </a:xfrm>
          <a:prstGeom prst="ellipse">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6355080" y="13716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Trebuchet MS"/>
              <a:buNone/>
            </a:pPr>
            <a:r>
              <a:rPr b="1" lang="en-US" sz="1600">
                <a:solidFill>
                  <a:srgbClr val="0A1628"/>
                </a:solidFill>
                <a:latin typeface="Trebuchet MS"/>
                <a:ea typeface="Trebuchet MS"/>
                <a:cs typeface="Trebuchet MS"/>
                <a:sym typeface="Trebuchet MS"/>
              </a:rPr>
              <a:t>3</a:t>
            </a:r>
            <a:endParaRPr sz="1600">
              <a:solidFill>
                <a:schemeClr val="dk1"/>
              </a:solidFill>
              <a:latin typeface="Calibri"/>
              <a:ea typeface="Calibri"/>
              <a:cs typeface="Calibri"/>
              <a:sym typeface="Calibri"/>
            </a:endParaRPr>
          </a:p>
        </p:txBody>
      </p:sp>
      <p:sp>
        <p:nvSpPr>
          <p:cNvPr id="86" name="Google Shape;86;p5"/>
          <p:cNvSpPr/>
          <p:nvPr/>
        </p:nvSpPr>
        <p:spPr>
          <a:xfrm>
            <a:off x="6858000" y="1371600"/>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Access Layer</a:t>
            </a:r>
            <a:endParaRPr sz="1400">
              <a:solidFill>
                <a:schemeClr val="dk1"/>
              </a:solidFill>
              <a:latin typeface="Calibri"/>
              <a:ea typeface="Calibri"/>
              <a:cs typeface="Calibri"/>
              <a:sym typeface="Calibri"/>
            </a:endParaRPr>
          </a:p>
        </p:txBody>
      </p:sp>
      <p:sp>
        <p:nvSpPr>
          <p:cNvPr id="87" name="Google Shape;87;p5"/>
          <p:cNvSpPr/>
          <p:nvPr/>
        </p:nvSpPr>
        <p:spPr>
          <a:xfrm>
            <a:off x="6355080" y="1920240"/>
            <a:ext cx="22860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End-device connections across HR, Engineering, and Finance VLANs</a:t>
            </a:r>
            <a:endParaRPr sz="1100">
              <a:solidFill>
                <a:schemeClr val="dk1"/>
              </a:solidFill>
              <a:latin typeface="Calibri"/>
              <a:ea typeface="Calibri"/>
              <a:cs typeface="Calibri"/>
              <a:sym typeface="Calibri"/>
            </a:endParaRPr>
          </a:p>
        </p:txBody>
      </p:sp>
      <p:sp>
        <p:nvSpPr>
          <p:cNvPr id="88" name="Google Shape;88;p5"/>
          <p:cNvSpPr/>
          <p:nvPr/>
        </p:nvSpPr>
        <p:spPr>
          <a:xfrm>
            <a:off x="548640" y="3017520"/>
            <a:ext cx="2560320" cy="155448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 name="Google Shape;89;p5"/>
          <p:cNvSpPr/>
          <p:nvPr/>
        </p:nvSpPr>
        <p:spPr>
          <a:xfrm>
            <a:off x="685800" y="3200400"/>
            <a:ext cx="411480" cy="411480"/>
          </a:xfrm>
          <a:prstGeom prst="ellipse">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5"/>
          <p:cNvSpPr/>
          <p:nvPr/>
        </p:nvSpPr>
        <p:spPr>
          <a:xfrm>
            <a:off x="685800" y="3200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Trebuchet MS"/>
              <a:buNone/>
            </a:pPr>
            <a:r>
              <a:rPr b="1" lang="en-US" sz="1600">
                <a:solidFill>
                  <a:srgbClr val="0A1628"/>
                </a:solidFill>
                <a:latin typeface="Trebuchet MS"/>
                <a:ea typeface="Trebuchet MS"/>
                <a:cs typeface="Trebuchet MS"/>
                <a:sym typeface="Trebuchet MS"/>
              </a:rPr>
              <a:t>4</a:t>
            </a:r>
            <a:endParaRPr sz="1600">
              <a:solidFill>
                <a:schemeClr val="dk1"/>
              </a:solidFill>
              <a:latin typeface="Calibri"/>
              <a:ea typeface="Calibri"/>
              <a:cs typeface="Calibri"/>
              <a:sym typeface="Calibri"/>
            </a:endParaRPr>
          </a:p>
        </p:txBody>
      </p:sp>
      <p:sp>
        <p:nvSpPr>
          <p:cNvPr id="91" name="Google Shape;91;p5"/>
          <p:cNvSpPr/>
          <p:nvPr/>
        </p:nvSpPr>
        <p:spPr>
          <a:xfrm>
            <a:off x="1188720" y="3200400"/>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DMZ</a:t>
            </a:r>
            <a:endParaRPr sz="1400">
              <a:solidFill>
                <a:schemeClr val="dk1"/>
              </a:solidFill>
              <a:latin typeface="Calibri"/>
              <a:ea typeface="Calibri"/>
              <a:cs typeface="Calibri"/>
              <a:sym typeface="Calibri"/>
            </a:endParaRPr>
          </a:p>
        </p:txBody>
      </p:sp>
      <p:sp>
        <p:nvSpPr>
          <p:cNvPr id="92" name="Google Shape;92;p5"/>
          <p:cNvSpPr/>
          <p:nvPr/>
        </p:nvSpPr>
        <p:spPr>
          <a:xfrm>
            <a:off x="685800" y="3749040"/>
            <a:ext cx="22860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Isolated segment for web and email servers accessible from the internet</a:t>
            </a:r>
            <a:endParaRPr sz="1100">
              <a:solidFill>
                <a:schemeClr val="dk1"/>
              </a:solidFill>
              <a:latin typeface="Calibri"/>
              <a:ea typeface="Calibri"/>
              <a:cs typeface="Calibri"/>
              <a:sym typeface="Calibri"/>
            </a:endParaRPr>
          </a:p>
        </p:txBody>
      </p:sp>
      <p:sp>
        <p:nvSpPr>
          <p:cNvPr id="93" name="Google Shape;93;p5"/>
          <p:cNvSpPr/>
          <p:nvPr/>
        </p:nvSpPr>
        <p:spPr>
          <a:xfrm>
            <a:off x="3383280" y="3017520"/>
            <a:ext cx="2560320" cy="155448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3520440" y="3200400"/>
            <a:ext cx="411480" cy="411480"/>
          </a:xfrm>
          <a:prstGeom prst="ellipse">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5"/>
          <p:cNvSpPr/>
          <p:nvPr/>
        </p:nvSpPr>
        <p:spPr>
          <a:xfrm>
            <a:off x="3520440" y="3200400"/>
            <a:ext cx="411480" cy="4114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1628"/>
              </a:buClr>
              <a:buSzPts val="1600"/>
              <a:buFont typeface="Trebuchet MS"/>
              <a:buNone/>
            </a:pPr>
            <a:r>
              <a:rPr b="1" lang="en-US" sz="1600">
                <a:solidFill>
                  <a:srgbClr val="0A1628"/>
                </a:solidFill>
                <a:latin typeface="Trebuchet MS"/>
                <a:ea typeface="Trebuchet MS"/>
                <a:cs typeface="Trebuchet MS"/>
                <a:sym typeface="Trebuchet MS"/>
              </a:rPr>
              <a:t>5</a:t>
            </a:r>
            <a:endParaRPr sz="1600">
              <a:solidFill>
                <a:schemeClr val="dk1"/>
              </a:solidFill>
              <a:latin typeface="Calibri"/>
              <a:ea typeface="Calibri"/>
              <a:cs typeface="Calibri"/>
              <a:sym typeface="Calibri"/>
            </a:endParaRPr>
          </a:p>
        </p:txBody>
      </p:sp>
      <p:sp>
        <p:nvSpPr>
          <p:cNvPr id="96" name="Google Shape;96;p5"/>
          <p:cNvSpPr/>
          <p:nvPr/>
        </p:nvSpPr>
        <p:spPr>
          <a:xfrm>
            <a:off x="4023360" y="3200400"/>
            <a:ext cx="17830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Remote Access</a:t>
            </a:r>
            <a:endParaRPr sz="1400">
              <a:solidFill>
                <a:schemeClr val="dk1"/>
              </a:solidFill>
              <a:latin typeface="Calibri"/>
              <a:ea typeface="Calibri"/>
              <a:cs typeface="Calibri"/>
              <a:sym typeface="Calibri"/>
            </a:endParaRPr>
          </a:p>
        </p:txBody>
      </p:sp>
      <p:sp>
        <p:nvSpPr>
          <p:cNvPr id="97" name="Google Shape;97;p5"/>
          <p:cNvSpPr/>
          <p:nvPr/>
        </p:nvSpPr>
        <p:spPr>
          <a:xfrm>
            <a:off x="3520440" y="3749040"/>
            <a:ext cx="2286000"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35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VPN gateway enabling encrypted connections for off-site employees</a:t>
            </a: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102" name="Shape 102"/>
        <p:cNvGrpSpPr/>
        <p:nvPr/>
      </p:nvGrpSpPr>
      <p:grpSpPr>
        <a:xfrm>
          <a:off x="0" y="0"/>
          <a:ext cx="0" cy="0"/>
          <a:chOff x="0" y="0"/>
          <a:chExt cx="0" cy="0"/>
        </a:xfrm>
      </p:grpSpPr>
      <p:sp>
        <p:nvSpPr>
          <p:cNvPr id="103" name="Google Shape;103;p6"/>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Security Measures — Overview</a:t>
            </a:r>
            <a:endParaRPr sz="3200">
              <a:solidFill>
                <a:schemeClr val="dk1"/>
              </a:solidFill>
              <a:latin typeface="Calibri"/>
              <a:ea typeface="Calibri"/>
              <a:cs typeface="Calibri"/>
              <a:sym typeface="Calibri"/>
            </a:endParaRPr>
          </a:p>
        </p:txBody>
      </p:sp>
      <p:sp>
        <p:nvSpPr>
          <p:cNvPr id="104" name="Google Shape;104;p6"/>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6"/>
          <p:cNvSpPr/>
          <p:nvPr/>
        </p:nvSpPr>
        <p:spPr>
          <a:xfrm>
            <a:off x="548640" y="1097280"/>
            <a:ext cx="8046720" cy="731520"/>
          </a:xfrm>
          <a:prstGeom prst="rect">
            <a:avLst/>
          </a:prstGeom>
          <a:noFill/>
          <a:ln>
            <a:noFill/>
          </a:ln>
        </p:spPr>
        <p:txBody>
          <a:bodyPr anchorCtr="0" anchor="ctr" bIns="45700" lIns="91425" spcFirstLastPara="1" rIns="91425" wrap="square" tIns="45700">
            <a:noAutofit/>
          </a:bodyPr>
          <a:lstStyle/>
          <a:p>
            <a:pPr indent="0" lvl="0" marL="0" marR="0" rtl="0" algn="l">
              <a:lnSpc>
                <a:spcPct val="150000"/>
              </a:lnSpc>
              <a:spcBef>
                <a:spcPts val="0"/>
              </a:spcBef>
              <a:spcAft>
                <a:spcPts val="0"/>
              </a:spcAft>
              <a:buClr>
                <a:srgbClr val="C8D6E5"/>
              </a:buClr>
              <a:buSzPts val="1300"/>
              <a:buFont typeface="Calibri"/>
              <a:buNone/>
            </a:pPr>
            <a:r>
              <a:rPr lang="en-US" sz="1300">
                <a:solidFill>
                  <a:srgbClr val="C8D6E5"/>
                </a:solidFill>
                <a:latin typeface="Calibri"/>
                <a:ea typeface="Calibri"/>
                <a:cs typeface="Calibri"/>
                <a:sym typeface="Calibri"/>
              </a:rPr>
              <a:t>Security is applied at every layer of the network, following a defense-in-depth strategy. Six measures work together to control access, isolate segments, and protect data in transit.</a:t>
            </a:r>
            <a:endParaRPr sz="1300">
              <a:solidFill>
                <a:schemeClr val="dk1"/>
              </a:solidFill>
              <a:latin typeface="Calibri"/>
              <a:ea typeface="Calibri"/>
              <a:cs typeface="Calibri"/>
              <a:sym typeface="Calibri"/>
            </a:endParaRPr>
          </a:p>
        </p:txBody>
      </p:sp>
      <p:sp>
        <p:nvSpPr>
          <p:cNvPr id="106" name="Google Shape;106;p6"/>
          <p:cNvSpPr/>
          <p:nvPr/>
        </p:nvSpPr>
        <p:spPr>
          <a:xfrm>
            <a:off x="548640" y="201168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7" name="Google Shape;107;p6"/>
          <p:cNvPicPr preferRelativeResize="0"/>
          <p:nvPr/>
        </p:nvPicPr>
        <p:blipFill rotWithShape="1">
          <a:blip r:embed="rId3">
            <a:alphaModFix/>
          </a:blip>
          <a:srcRect b="0" l="0" r="0" t="0"/>
          <a:stretch/>
        </p:blipFill>
        <p:spPr>
          <a:xfrm>
            <a:off x="731520" y="2240280"/>
            <a:ext cx="411480" cy="411480"/>
          </a:xfrm>
          <a:prstGeom prst="rect">
            <a:avLst/>
          </a:prstGeom>
          <a:noFill/>
          <a:ln>
            <a:noFill/>
          </a:ln>
        </p:spPr>
      </p:pic>
      <p:sp>
        <p:nvSpPr>
          <p:cNvPr id="108" name="Google Shape;108;p6"/>
          <p:cNvSpPr/>
          <p:nvPr/>
        </p:nvSpPr>
        <p:spPr>
          <a:xfrm>
            <a:off x="1234440" y="214884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Perimeter Firewall</a:t>
            </a:r>
            <a:endParaRPr sz="1300">
              <a:solidFill>
                <a:schemeClr val="dk1"/>
              </a:solidFill>
              <a:latin typeface="Calibri"/>
              <a:ea typeface="Calibri"/>
              <a:cs typeface="Calibri"/>
              <a:sym typeface="Calibri"/>
            </a:endParaRPr>
          </a:p>
        </p:txBody>
      </p:sp>
      <p:sp>
        <p:nvSpPr>
          <p:cNvPr id="109" name="Google Shape;109;p6"/>
          <p:cNvSpPr/>
          <p:nvPr/>
        </p:nvSpPr>
        <p:spPr>
          <a:xfrm>
            <a:off x="1234440" y="251460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ASA 5505 — Stateful inspection</a:t>
            </a:r>
            <a:endParaRPr sz="1000">
              <a:solidFill>
                <a:schemeClr val="dk1"/>
              </a:solidFill>
              <a:latin typeface="Calibri"/>
              <a:ea typeface="Calibri"/>
              <a:cs typeface="Calibri"/>
              <a:sym typeface="Calibri"/>
            </a:endParaRPr>
          </a:p>
        </p:txBody>
      </p:sp>
      <p:sp>
        <p:nvSpPr>
          <p:cNvPr id="110" name="Google Shape;110;p6"/>
          <p:cNvSpPr/>
          <p:nvPr/>
        </p:nvSpPr>
        <p:spPr>
          <a:xfrm>
            <a:off x="3383280" y="201168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1" name="Google Shape;111;p6"/>
          <p:cNvPicPr preferRelativeResize="0"/>
          <p:nvPr/>
        </p:nvPicPr>
        <p:blipFill rotWithShape="1">
          <a:blip r:embed="rId4">
            <a:alphaModFix/>
          </a:blip>
          <a:srcRect b="0" l="0" r="0" t="0"/>
          <a:stretch/>
        </p:blipFill>
        <p:spPr>
          <a:xfrm>
            <a:off x="3566160" y="2240280"/>
            <a:ext cx="411480" cy="411480"/>
          </a:xfrm>
          <a:prstGeom prst="rect">
            <a:avLst/>
          </a:prstGeom>
          <a:noFill/>
          <a:ln>
            <a:noFill/>
          </a:ln>
        </p:spPr>
      </p:pic>
      <p:sp>
        <p:nvSpPr>
          <p:cNvPr id="112" name="Google Shape;112;p6"/>
          <p:cNvSpPr/>
          <p:nvPr/>
        </p:nvSpPr>
        <p:spPr>
          <a:xfrm>
            <a:off x="4069080" y="214884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VLAN Segmentation</a:t>
            </a:r>
            <a:endParaRPr sz="1300">
              <a:solidFill>
                <a:schemeClr val="dk1"/>
              </a:solidFill>
              <a:latin typeface="Calibri"/>
              <a:ea typeface="Calibri"/>
              <a:cs typeface="Calibri"/>
              <a:sym typeface="Calibri"/>
            </a:endParaRPr>
          </a:p>
        </p:txBody>
      </p:sp>
      <p:sp>
        <p:nvSpPr>
          <p:cNvPr id="113" name="Google Shape;113;p6"/>
          <p:cNvSpPr/>
          <p:nvPr/>
        </p:nvSpPr>
        <p:spPr>
          <a:xfrm>
            <a:off x="4069080" y="251460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Isolated L2 broadcast domains</a:t>
            </a:r>
            <a:endParaRPr sz="1000">
              <a:solidFill>
                <a:schemeClr val="dk1"/>
              </a:solidFill>
              <a:latin typeface="Calibri"/>
              <a:ea typeface="Calibri"/>
              <a:cs typeface="Calibri"/>
              <a:sym typeface="Calibri"/>
            </a:endParaRPr>
          </a:p>
        </p:txBody>
      </p:sp>
      <p:sp>
        <p:nvSpPr>
          <p:cNvPr id="114" name="Google Shape;114;p6"/>
          <p:cNvSpPr/>
          <p:nvPr/>
        </p:nvSpPr>
        <p:spPr>
          <a:xfrm>
            <a:off x="6217920" y="201168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5" name="Google Shape;115;p6"/>
          <p:cNvPicPr preferRelativeResize="0"/>
          <p:nvPr/>
        </p:nvPicPr>
        <p:blipFill rotWithShape="1">
          <a:blip r:embed="rId5">
            <a:alphaModFix/>
          </a:blip>
          <a:srcRect b="0" l="0" r="0" t="0"/>
          <a:stretch/>
        </p:blipFill>
        <p:spPr>
          <a:xfrm>
            <a:off x="6400800" y="2240280"/>
            <a:ext cx="411480" cy="411480"/>
          </a:xfrm>
          <a:prstGeom prst="rect">
            <a:avLst/>
          </a:prstGeom>
          <a:noFill/>
          <a:ln>
            <a:noFill/>
          </a:ln>
        </p:spPr>
      </p:pic>
      <p:sp>
        <p:nvSpPr>
          <p:cNvPr id="116" name="Google Shape;116;p6"/>
          <p:cNvSpPr/>
          <p:nvPr/>
        </p:nvSpPr>
        <p:spPr>
          <a:xfrm>
            <a:off x="6903720" y="214884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Access Control Lists</a:t>
            </a:r>
            <a:endParaRPr sz="1300">
              <a:solidFill>
                <a:schemeClr val="dk1"/>
              </a:solidFill>
              <a:latin typeface="Calibri"/>
              <a:ea typeface="Calibri"/>
              <a:cs typeface="Calibri"/>
              <a:sym typeface="Calibri"/>
            </a:endParaRPr>
          </a:p>
        </p:txBody>
      </p:sp>
      <p:sp>
        <p:nvSpPr>
          <p:cNvPr id="117" name="Google Shape;117;p6"/>
          <p:cNvSpPr/>
          <p:nvPr/>
        </p:nvSpPr>
        <p:spPr>
          <a:xfrm>
            <a:off x="6903720" y="251460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Whitelist inter-VLAN traffic</a:t>
            </a:r>
            <a:endParaRPr sz="1000">
              <a:solidFill>
                <a:schemeClr val="dk1"/>
              </a:solidFill>
              <a:latin typeface="Calibri"/>
              <a:ea typeface="Calibri"/>
              <a:cs typeface="Calibri"/>
              <a:sym typeface="Calibri"/>
            </a:endParaRPr>
          </a:p>
        </p:txBody>
      </p:sp>
      <p:sp>
        <p:nvSpPr>
          <p:cNvPr id="118" name="Google Shape;118;p6"/>
          <p:cNvSpPr/>
          <p:nvPr/>
        </p:nvSpPr>
        <p:spPr>
          <a:xfrm>
            <a:off x="548640" y="347472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6"/>
          <p:cNvPicPr preferRelativeResize="0"/>
          <p:nvPr/>
        </p:nvPicPr>
        <p:blipFill rotWithShape="1">
          <a:blip r:embed="rId6">
            <a:alphaModFix/>
          </a:blip>
          <a:srcRect b="0" l="0" r="0" t="0"/>
          <a:stretch/>
        </p:blipFill>
        <p:spPr>
          <a:xfrm>
            <a:off x="731520" y="3703320"/>
            <a:ext cx="411480" cy="411480"/>
          </a:xfrm>
          <a:prstGeom prst="rect">
            <a:avLst/>
          </a:prstGeom>
          <a:noFill/>
          <a:ln>
            <a:noFill/>
          </a:ln>
        </p:spPr>
      </p:pic>
      <p:sp>
        <p:nvSpPr>
          <p:cNvPr id="120" name="Google Shape;120;p6"/>
          <p:cNvSpPr/>
          <p:nvPr/>
        </p:nvSpPr>
        <p:spPr>
          <a:xfrm>
            <a:off x="1234440" y="361188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DMZ Architecture</a:t>
            </a:r>
            <a:endParaRPr sz="1300">
              <a:solidFill>
                <a:schemeClr val="dk1"/>
              </a:solidFill>
              <a:latin typeface="Calibri"/>
              <a:ea typeface="Calibri"/>
              <a:cs typeface="Calibri"/>
              <a:sym typeface="Calibri"/>
            </a:endParaRPr>
          </a:p>
        </p:txBody>
      </p:sp>
      <p:sp>
        <p:nvSpPr>
          <p:cNvPr id="121" name="Google Shape;121;p6"/>
          <p:cNvSpPr/>
          <p:nvPr/>
        </p:nvSpPr>
        <p:spPr>
          <a:xfrm>
            <a:off x="1234440" y="397764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Isolated public-facing servers</a:t>
            </a:r>
            <a:endParaRPr sz="1000">
              <a:solidFill>
                <a:schemeClr val="dk1"/>
              </a:solidFill>
              <a:latin typeface="Calibri"/>
              <a:ea typeface="Calibri"/>
              <a:cs typeface="Calibri"/>
              <a:sym typeface="Calibri"/>
            </a:endParaRPr>
          </a:p>
        </p:txBody>
      </p:sp>
      <p:sp>
        <p:nvSpPr>
          <p:cNvPr id="122" name="Google Shape;122;p6"/>
          <p:cNvSpPr/>
          <p:nvPr/>
        </p:nvSpPr>
        <p:spPr>
          <a:xfrm>
            <a:off x="3383280" y="347472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3" name="Google Shape;123;p6"/>
          <p:cNvPicPr preferRelativeResize="0"/>
          <p:nvPr/>
        </p:nvPicPr>
        <p:blipFill rotWithShape="1">
          <a:blip r:embed="rId7">
            <a:alphaModFix/>
          </a:blip>
          <a:srcRect b="0" l="0" r="0" t="0"/>
          <a:stretch/>
        </p:blipFill>
        <p:spPr>
          <a:xfrm>
            <a:off x="3566160" y="3703320"/>
            <a:ext cx="411480" cy="411480"/>
          </a:xfrm>
          <a:prstGeom prst="rect">
            <a:avLst/>
          </a:prstGeom>
          <a:noFill/>
          <a:ln>
            <a:noFill/>
          </a:ln>
        </p:spPr>
      </p:pic>
      <p:sp>
        <p:nvSpPr>
          <p:cNvPr id="124" name="Google Shape;124;p6"/>
          <p:cNvSpPr/>
          <p:nvPr/>
        </p:nvSpPr>
        <p:spPr>
          <a:xfrm>
            <a:off x="4069080" y="361188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VPN Gateway</a:t>
            </a:r>
            <a:endParaRPr sz="1300">
              <a:solidFill>
                <a:schemeClr val="dk1"/>
              </a:solidFill>
              <a:latin typeface="Calibri"/>
              <a:ea typeface="Calibri"/>
              <a:cs typeface="Calibri"/>
              <a:sym typeface="Calibri"/>
            </a:endParaRPr>
          </a:p>
        </p:txBody>
      </p:sp>
      <p:sp>
        <p:nvSpPr>
          <p:cNvPr id="125" name="Google Shape;125;p6"/>
          <p:cNvSpPr/>
          <p:nvPr/>
        </p:nvSpPr>
        <p:spPr>
          <a:xfrm>
            <a:off x="4069080" y="397764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IPSec encrypted remote access</a:t>
            </a:r>
            <a:endParaRPr sz="1000">
              <a:solidFill>
                <a:schemeClr val="dk1"/>
              </a:solidFill>
              <a:latin typeface="Calibri"/>
              <a:ea typeface="Calibri"/>
              <a:cs typeface="Calibri"/>
              <a:sym typeface="Calibri"/>
            </a:endParaRPr>
          </a:p>
        </p:txBody>
      </p:sp>
      <p:sp>
        <p:nvSpPr>
          <p:cNvPr id="126" name="Google Shape;126;p6"/>
          <p:cNvSpPr/>
          <p:nvPr/>
        </p:nvSpPr>
        <p:spPr>
          <a:xfrm>
            <a:off x="6217920" y="3474720"/>
            <a:ext cx="2560320" cy="1188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7" name="Google Shape;127;p6"/>
          <p:cNvPicPr preferRelativeResize="0"/>
          <p:nvPr/>
        </p:nvPicPr>
        <p:blipFill rotWithShape="1">
          <a:blip r:embed="rId8">
            <a:alphaModFix/>
          </a:blip>
          <a:srcRect b="0" l="0" r="0" t="0"/>
          <a:stretch/>
        </p:blipFill>
        <p:spPr>
          <a:xfrm>
            <a:off x="6400800" y="3703320"/>
            <a:ext cx="411480" cy="411480"/>
          </a:xfrm>
          <a:prstGeom prst="rect">
            <a:avLst/>
          </a:prstGeom>
          <a:noFill/>
          <a:ln>
            <a:noFill/>
          </a:ln>
        </p:spPr>
      </p:pic>
      <p:sp>
        <p:nvSpPr>
          <p:cNvPr id="128" name="Google Shape;128;p6"/>
          <p:cNvSpPr/>
          <p:nvPr/>
        </p:nvSpPr>
        <p:spPr>
          <a:xfrm>
            <a:off x="6903720" y="3611880"/>
            <a:ext cx="1691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Trebuchet MS"/>
              <a:buNone/>
            </a:pPr>
            <a:r>
              <a:rPr b="1" lang="en-US" sz="1300">
                <a:solidFill>
                  <a:srgbClr val="FFFFFF"/>
                </a:solidFill>
                <a:latin typeface="Trebuchet MS"/>
                <a:ea typeface="Trebuchet MS"/>
                <a:cs typeface="Trebuchet MS"/>
                <a:sym typeface="Trebuchet MS"/>
              </a:rPr>
              <a:t>Port Security</a:t>
            </a:r>
            <a:endParaRPr sz="1300">
              <a:solidFill>
                <a:schemeClr val="dk1"/>
              </a:solidFill>
              <a:latin typeface="Calibri"/>
              <a:ea typeface="Calibri"/>
              <a:cs typeface="Calibri"/>
              <a:sym typeface="Calibri"/>
            </a:endParaRPr>
          </a:p>
        </p:txBody>
      </p:sp>
      <p:sp>
        <p:nvSpPr>
          <p:cNvPr id="129" name="Google Shape;129;p6"/>
          <p:cNvSpPr/>
          <p:nvPr/>
        </p:nvSpPr>
        <p:spPr>
          <a:xfrm>
            <a:off x="6903720" y="3977640"/>
            <a:ext cx="16916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7F8FA6"/>
              </a:buClr>
              <a:buSzPts val="1000"/>
              <a:buFont typeface="Calibri"/>
              <a:buNone/>
            </a:pPr>
            <a:r>
              <a:rPr lang="en-US" sz="1000">
                <a:solidFill>
                  <a:srgbClr val="7F8FA6"/>
                </a:solidFill>
                <a:latin typeface="Calibri"/>
                <a:ea typeface="Calibri"/>
                <a:cs typeface="Calibri"/>
                <a:sym typeface="Calibri"/>
              </a:rPr>
              <a:t>Sticky MAC, port violation shutdown</a:t>
            </a:r>
            <a:endParaRPr sz="1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134" name="Shape 134"/>
        <p:cNvGrpSpPr/>
        <p:nvPr/>
      </p:nvGrpSpPr>
      <p:grpSpPr>
        <a:xfrm>
          <a:off x="0" y="0"/>
          <a:ext cx="0" cy="0"/>
          <a:chOff x="0" y="0"/>
          <a:chExt cx="0" cy="0"/>
        </a:xfrm>
      </p:grpSpPr>
      <p:sp>
        <p:nvSpPr>
          <p:cNvPr id="135" name="Google Shape;135;p7"/>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Firewall &amp; VLAN Segmentation</a:t>
            </a:r>
            <a:endParaRPr sz="3200">
              <a:solidFill>
                <a:schemeClr val="dk1"/>
              </a:solidFill>
              <a:latin typeface="Calibri"/>
              <a:ea typeface="Calibri"/>
              <a:cs typeface="Calibri"/>
              <a:sym typeface="Calibri"/>
            </a:endParaRPr>
          </a:p>
        </p:txBody>
      </p:sp>
      <p:sp>
        <p:nvSpPr>
          <p:cNvPr id="136" name="Google Shape;136;p7"/>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7"/>
          <p:cNvSpPr/>
          <p:nvPr/>
        </p:nvSpPr>
        <p:spPr>
          <a:xfrm>
            <a:off x="54864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8" name="Google Shape;138;p7"/>
          <p:cNvPicPr preferRelativeResize="0"/>
          <p:nvPr/>
        </p:nvPicPr>
        <p:blipFill rotWithShape="1">
          <a:blip r:embed="rId3">
            <a:alphaModFix/>
          </a:blip>
          <a:srcRect b="0" l="0" r="0" t="0"/>
          <a:stretch/>
        </p:blipFill>
        <p:spPr>
          <a:xfrm>
            <a:off x="777240" y="1371600"/>
            <a:ext cx="365760" cy="365760"/>
          </a:xfrm>
          <a:prstGeom prst="rect">
            <a:avLst/>
          </a:prstGeom>
          <a:noFill/>
          <a:ln>
            <a:noFill/>
          </a:ln>
        </p:spPr>
      </p:pic>
      <p:sp>
        <p:nvSpPr>
          <p:cNvPr id="139" name="Google Shape;139;p7"/>
          <p:cNvSpPr/>
          <p:nvPr/>
        </p:nvSpPr>
        <p:spPr>
          <a:xfrm>
            <a:off x="123444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Perimeter Firewall (ASA 5505)</a:t>
            </a:r>
            <a:endParaRPr sz="1400">
              <a:solidFill>
                <a:schemeClr val="dk1"/>
              </a:solidFill>
              <a:latin typeface="Calibri"/>
              <a:ea typeface="Calibri"/>
              <a:cs typeface="Calibri"/>
              <a:sym typeface="Calibri"/>
            </a:endParaRPr>
          </a:p>
        </p:txBody>
      </p:sp>
      <p:sp>
        <p:nvSpPr>
          <p:cNvPr id="140" name="Google Shape;140;p7"/>
          <p:cNvSpPr/>
          <p:nvPr/>
        </p:nvSpPr>
        <p:spPr>
          <a:xfrm>
            <a:off x="77724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Sits at the boundary between the internet, the DMZ, and the internal network</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Performs stateful packet inspection — tracks active connections rather than evaluating packets in isolation</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All traffic denied by default; only flows defined in the security policy are permitted</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Distinguishes legitimate response traffic from unsolicited inbound probes</a:t>
            </a:r>
            <a:endParaRPr sz="1100">
              <a:solidFill>
                <a:schemeClr val="dk1"/>
              </a:solidFill>
              <a:latin typeface="Calibri"/>
              <a:ea typeface="Calibri"/>
              <a:cs typeface="Calibri"/>
              <a:sym typeface="Calibri"/>
            </a:endParaRPr>
          </a:p>
        </p:txBody>
      </p:sp>
      <p:sp>
        <p:nvSpPr>
          <p:cNvPr id="141" name="Google Shape;141;p7"/>
          <p:cNvSpPr/>
          <p:nvPr/>
        </p:nvSpPr>
        <p:spPr>
          <a:xfrm>
            <a:off x="475488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2" name="Google Shape;142;p7"/>
          <p:cNvPicPr preferRelativeResize="0"/>
          <p:nvPr/>
        </p:nvPicPr>
        <p:blipFill rotWithShape="1">
          <a:blip r:embed="rId4">
            <a:alphaModFix/>
          </a:blip>
          <a:srcRect b="0" l="0" r="0" t="0"/>
          <a:stretch/>
        </p:blipFill>
        <p:spPr>
          <a:xfrm>
            <a:off x="4983480" y="1371600"/>
            <a:ext cx="365760" cy="365760"/>
          </a:xfrm>
          <a:prstGeom prst="rect">
            <a:avLst/>
          </a:prstGeom>
          <a:noFill/>
          <a:ln>
            <a:noFill/>
          </a:ln>
        </p:spPr>
      </p:pic>
      <p:sp>
        <p:nvSpPr>
          <p:cNvPr id="143" name="Google Shape;143;p7"/>
          <p:cNvSpPr/>
          <p:nvPr/>
        </p:nvSpPr>
        <p:spPr>
          <a:xfrm>
            <a:off x="544068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VLAN Segmentation</a:t>
            </a:r>
            <a:endParaRPr sz="1400">
              <a:solidFill>
                <a:schemeClr val="dk1"/>
              </a:solidFill>
              <a:latin typeface="Calibri"/>
              <a:ea typeface="Calibri"/>
              <a:cs typeface="Calibri"/>
              <a:sym typeface="Calibri"/>
            </a:endParaRPr>
          </a:p>
        </p:txBody>
      </p:sp>
      <p:sp>
        <p:nvSpPr>
          <p:cNvPr id="144" name="Google Shape;144;p7"/>
          <p:cNvSpPr/>
          <p:nvPr/>
        </p:nvSpPr>
        <p:spPr>
          <a:xfrm>
            <a:off x="498348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HR, Engineering, and Finance each placed on a separate VLAN</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Creates isolated Layer 2 broadcast domains between departments</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A compromised device in HR cannot directly reach Engineering or Finance at Layer 2</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Cross-VLAN traffic must pass through the distribution layer where ACLs are enforced</a:t>
            </a:r>
            <a:endParaRPr sz="11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149" name="Shape 149"/>
        <p:cNvGrpSpPr/>
        <p:nvPr/>
      </p:nvGrpSpPr>
      <p:grpSpPr>
        <a:xfrm>
          <a:off x="0" y="0"/>
          <a:ext cx="0" cy="0"/>
          <a:chOff x="0" y="0"/>
          <a:chExt cx="0" cy="0"/>
        </a:xfrm>
      </p:grpSpPr>
      <p:sp>
        <p:nvSpPr>
          <p:cNvPr id="150" name="Google Shape;150;p8"/>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ACLs &amp; DMZ Architecture</a:t>
            </a:r>
            <a:endParaRPr sz="3200">
              <a:solidFill>
                <a:schemeClr val="dk1"/>
              </a:solidFill>
              <a:latin typeface="Calibri"/>
              <a:ea typeface="Calibri"/>
              <a:cs typeface="Calibri"/>
              <a:sym typeface="Calibri"/>
            </a:endParaRPr>
          </a:p>
        </p:txBody>
      </p:sp>
      <p:sp>
        <p:nvSpPr>
          <p:cNvPr id="151" name="Google Shape;151;p8"/>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54864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3" name="Google Shape;153;p8"/>
          <p:cNvPicPr preferRelativeResize="0"/>
          <p:nvPr/>
        </p:nvPicPr>
        <p:blipFill rotWithShape="1">
          <a:blip r:embed="rId3">
            <a:alphaModFix/>
          </a:blip>
          <a:srcRect b="0" l="0" r="0" t="0"/>
          <a:stretch/>
        </p:blipFill>
        <p:spPr>
          <a:xfrm>
            <a:off x="777240" y="1371600"/>
            <a:ext cx="365760" cy="365760"/>
          </a:xfrm>
          <a:prstGeom prst="rect">
            <a:avLst/>
          </a:prstGeom>
          <a:noFill/>
          <a:ln>
            <a:noFill/>
          </a:ln>
        </p:spPr>
      </p:pic>
      <p:sp>
        <p:nvSpPr>
          <p:cNvPr id="154" name="Google Shape;154;p8"/>
          <p:cNvSpPr/>
          <p:nvPr/>
        </p:nvSpPr>
        <p:spPr>
          <a:xfrm>
            <a:off x="123444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Access Control Lists</a:t>
            </a:r>
            <a:endParaRPr sz="1400">
              <a:solidFill>
                <a:schemeClr val="dk1"/>
              </a:solidFill>
              <a:latin typeface="Calibri"/>
              <a:ea typeface="Calibri"/>
              <a:cs typeface="Calibri"/>
              <a:sym typeface="Calibri"/>
            </a:endParaRPr>
          </a:p>
        </p:txBody>
      </p:sp>
      <p:sp>
        <p:nvSpPr>
          <p:cNvPr id="155" name="Google Shape;155;p8"/>
          <p:cNvSpPr/>
          <p:nvPr/>
        </p:nvSpPr>
        <p:spPr>
          <a:xfrm>
            <a:off x="77724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Applied on distribution-layer SVIs (Switch Virtual Interfaces)</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Define a whitelist of permitted inter-VLAN traffic flows</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Cross-department communication blocked by default</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Functions as the internal equivalent of the perimeter firewall</a:t>
            </a:r>
            <a:endParaRPr sz="1100">
              <a:solidFill>
                <a:schemeClr val="dk1"/>
              </a:solidFill>
              <a:latin typeface="Calibri"/>
              <a:ea typeface="Calibri"/>
              <a:cs typeface="Calibri"/>
              <a:sym typeface="Calibri"/>
            </a:endParaRPr>
          </a:p>
        </p:txBody>
      </p:sp>
      <p:sp>
        <p:nvSpPr>
          <p:cNvPr id="156" name="Google Shape;156;p8"/>
          <p:cNvSpPr/>
          <p:nvPr/>
        </p:nvSpPr>
        <p:spPr>
          <a:xfrm>
            <a:off x="475488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7" name="Google Shape;157;p8"/>
          <p:cNvPicPr preferRelativeResize="0"/>
          <p:nvPr/>
        </p:nvPicPr>
        <p:blipFill rotWithShape="1">
          <a:blip r:embed="rId4">
            <a:alphaModFix/>
          </a:blip>
          <a:srcRect b="0" l="0" r="0" t="0"/>
          <a:stretch/>
        </p:blipFill>
        <p:spPr>
          <a:xfrm>
            <a:off x="4983480" y="1371600"/>
            <a:ext cx="365760" cy="365760"/>
          </a:xfrm>
          <a:prstGeom prst="rect">
            <a:avLst/>
          </a:prstGeom>
          <a:noFill/>
          <a:ln>
            <a:noFill/>
          </a:ln>
        </p:spPr>
      </p:pic>
      <p:sp>
        <p:nvSpPr>
          <p:cNvPr id="158" name="Google Shape;158;p8"/>
          <p:cNvSpPr/>
          <p:nvPr/>
        </p:nvSpPr>
        <p:spPr>
          <a:xfrm>
            <a:off x="544068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DMZ Architecture</a:t>
            </a:r>
            <a:endParaRPr sz="1400">
              <a:solidFill>
                <a:schemeClr val="dk1"/>
              </a:solidFill>
              <a:latin typeface="Calibri"/>
              <a:ea typeface="Calibri"/>
              <a:cs typeface="Calibri"/>
              <a:sym typeface="Calibri"/>
            </a:endParaRPr>
          </a:p>
        </p:txBody>
      </p:sp>
      <p:sp>
        <p:nvSpPr>
          <p:cNvPr id="159" name="Google Shape;159;p8"/>
          <p:cNvSpPr/>
          <p:nvPr/>
        </p:nvSpPr>
        <p:spPr>
          <a:xfrm>
            <a:off x="498348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Web server and email server isolated in a dedicated DMZ segment</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Firewall enforces strict directional rules between zones</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Inbound internet traffic reaches DMZ on designated ports only</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DMZ servers cannot initiate connections into the internal network — a compromise stays contained</a:t>
            </a:r>
            <a:endParaRPr sz="11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164" name="Shape 164"/>
        <p:cNvGrpSpPr/>
        <p:nvPr/>
      </p:nvGrpSpPr>
      <p:grpSpPr>
        <a:xfrm>
          <a:off x="0" y="0"/>
          <a:ext cx="0" cy="0"/>
          <a:chOff x="0" y="0"/>
          <a:chExt cx="0" cy="0"/>
        </a:xfrm>
      </p:grpSpPr>
      <p:sp>
        <p:nvSpPr>
          <p:cNvPr id="165" name="Google Shape;165;p9"/>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VPN &amp; Port Security</a:t>
            </a:r>
            <a:endParaRPr sz="3200">
              <a:solidFill>
                <a:schemeClr val="dk1"/>
              </a:solidFill>
              <a:latin typeface="Calibri"/>
              <a:ea typeface="Calibri"/>
              <a:cs typeface="Calibri"/>
              <a:sym typeface="Calibri"/>
            </a:endParaRPr>
          </a:p>
        </p:txBody>
      </p:sp>
      <p:sp>
        <p:nvSpPr>
          <p:cNvPr id="166" name="Google Shape;166;p9"/>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9"/>
          <p:cNvSpPr/>
          <p:nvPr/>
        </p:nvSpPr>
        <p:spPr>
          <a:xfrm>
            <a:off x="54864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68" name="Google Shape;168;p9"/>
          <p:cNvPicPr preferRelativeResize="0"/>
          <p:nvPr/>
        </p:nvPicPr>
        <p:blipFill rotWithShape="1">
          <a:blip r:embed="rId3">
            <a:alphaModFix/>
          </a:blip>
          <a:srcRect b="0" l="0" r="0" t="0"/>
          <a:stretch/>
        </p:blipFill>
        <p:spPr>
          <a:xfrm>
            <a:off x="777240" y="1371600"/>
            <a:ext cx="365760" cy="365760"/>
          </a:xfrm>
          <a:prstGeom prst="rect">
            <a:avLst/>
          </a:prstGeom>
          <a:noFill/>
          <a:ln>
            <a:noFill/>
          </a:ln>
        </p:spPr>
      </p:pic>
      <p:sp>
        <p:nvSpPr>
          <p:cNvPr id="169" name="Google Shape;169;p9"/>
          <p:cNvSpPr/>
          <p:nvPr/>
        </p:nvSpPr>
        <p:spPr>
          <a:xfrm>
            <a:off x="123444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VPN Gateway</a:t>
            </a:r>
            <a:endParaRPr sz="1400">
              <a:solidFill>
                <a:schemeClr val="dk1"/>
              </a:solidFill>
              <a:latin typeface="Calibri"/>
              <a:ea typeface="Calibri"/>
              <a:cs typeface="Calibri"/>
              <a:sym typeface="Calibri"/>
            </a:endParaRPr>
          </a:p>
        </p:txBody>
      </p:sp>
      <p:sp>
        <p:nvSpPr>
          <p:cNvPr id="170" name="Google Shape;170;p9"/>
          <p:cNvSpPr/>
          <p:nvPr/>
        </p:nvSpPr>
        <p:spPr>
          <a:xfrm>
            <a:off x="77724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All remote connections encrypted using IPSec</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Authentication required before any internal access is granted</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Prevents interception of remote employee traffic in transit</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Only authorized users can establish connections to internal resources</a:t>
            </a:r>
            <a:endParaRPr sz="1100">
              <a:solidFill>
                <a:schemeClr val="dk1"/>
              </a:solidFill>
              <a:latin typeface="Calibri"/>
              <a:ea typeface="Calibri"/>
              <a:cs typeface="Calibri"/>
              <a:sym typeface="Calibri"/>
            </a:endParaRPr>
          </a:p>
        </p:txBody>
      </p:sp>
      <p:sp>
        <p:nvSpPr>
          <p:cNvPr id="171" name="Google Shape;171;p9"/>
          <p:cNvSpPr/>
          <p:nvPr/>
        </p:nvSpPr>
        <p:spPr>
          <a:xfrm>
            <a:off x="4754880" y="1188720"/>
            <a:ext cx="3840480" cy="347472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2" name="Google Shape;172;p9"/>
          <p:cNvPicPr preferRelativeResize="0"/>
          <p:nvPr/>
        </p:nvPicPr>
        <p:blipFill rotWithShape="1">
          <a:blip r:embed="rId4">
            <a:alphaModFix/>
          </a:blip>
          <a:srcRect b="0" l="0" r="0" t="0"/>
          <a:stretch/>
        </p:blipFill>
        <p:spPr>
          <a:xfrm>
            <a:off x="4983480" y="1371600"/>
            <a:ext cx="365760" cy="365760"/>
          </a:xfrm>
          <a:prstGeom prst="rect">
            <a:avLst/>
          </a:prstGeom>
          <a:noFill/>
          <a:ln>
            <a:noFill/>
          </a:ln>
        </p:spPr>
      </p:pic>
      <p:sp>
        <p:nvSpPr>
          <p:cNvPr id="173" name="Google Shape;173;p9"/>
          <p:cNvSpPr/>
          <p:nvPr/>
        </p:nvSpPr>
        <p:spPr>
          <a:xfrm>
            <a:off x="5440680" y="1371600"/>
            <a:ext cx="29260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AA"/>
              </a:buClr>
              <a:buSzPts val="1400"/>
              <a:buFont typeface="Trebuchet MS"/>
              <a:buNone/>
            </a:pPr>
            <a:r>
              <a:rPr b="1" lang="en-US" sz="1400">
                <a:solidFill>
                  <a:srgbClr val="00D4AA"/>
                </a:solidFill>
                <a:latin typeface="Trebuchet MS"/>
                <a:ea typeface="Trebuchet MS"/>
                <a:cs typeface="Trebuchet MS"/>
                <a:sym typeface="Trebuchet MS"/>
              </a:rPr>
              <a:t>Port Security</a:t>
            </a:r>
            <a:endParaRPr sz="1400">
              <a:solidFill>
                <a:schemeClr val="dk1"/>
              </a:solidFill>
              <a:latin typeface="Calibri"/>
              <a:ea typeface="Calibri"/>
              <a:cs typeface="Calibri"/>
              <a:sym typeface="Calibri"/>
            </a:endParaRPr>
          </a:p>
        </p:txBody>
      </p:sp>
      <p:sp>
        <p:nvSpPr>
          <p:cNvPr id="174" name="Google Shape;174;p9"/>
          <p:cNvSpPr/>
          <p:nvPr/>
        </p:nvSpPr>
        <p:spPr>
          <a:xfrm>
            <a:off x="4983480" y="1920240"/>
            <a:ext cx="3383280" cy="2560320"/>
          </a:xfrm>
          <a:prstGeom prst="rect">
            <a:avLst/>
          </a:prstGeom>
          <a:noFill/>
          <a:ln>
            <a:noFill/>
          </a:ln>
        </p:spPr>
        <p:txBody>
          <a:bodyPr anchorCtr="0" anchor="ctr" bIns="45700" lIns="91425" spcFirstLastPara="1" rIns="91425" wrap="square" tIns="45700">
            <a:noAutofit/>
          </a:bodyPr>
          <a:lstStyle/>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Configured on all access-layer switch ports</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Sticky MAC address learning — only the first connected device is permitted</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Unknown MAC addresses trigger a port violation</a:t>
            </a:r>
            <a:endParaRPr sz="1100">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342900" lvl="0" marL="342900" marR="0" rtl="0" algn="l">
              <a:lnSpc>
                <a:spcPct val="130000"/>
              </a:lnSpc>
              <a:spcBef>
                <a:spcPts val="0"/>
              </a:spcBef>
              <a:spcAft>
                <a:spcPts val="0"/>
              </a:spcAft>
              <a:buClr>
                <a:srgbClr val="C8D6E5"/>
              </a:buClr>
              <a:buSzPts val="1100"/>
              <a:buFont typeface="Calibri"/>
              <a:buChar char="•"/>
            </a:pPr>
            <a:r>
              <a:rPr lang="en-US" sz="1100">
                <a:solidFill>
                  <a:srgbClr val="C8D6E5"/>
                </a:solidFill>
                <a:latin typeface="Calibri"/>
                <a:ea typeface="Calibri"/>
                <a:cs typeface="Calibri"/>
                <a:sym typeface="Calibri"/>
              </a:rPr>
              <a:t>Violating port is shut down until an administrator reviews it</a:t>
            </a:r>
            <a:endParaRPr sz="11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35"/>
        </a:solidFill>
      </p:bgPr>
    </p:bg>
    <p:spTree>
      <p:nvGrpSpPr>
        <p:cNvPr id="179" name="Shape 179"/>
        <p:cNvGrpSpPr/>
        <p:nvPr/>
      </p:nvGrpSpPr>
      <p:grpSpPr>
        <a:xfrm>
          <a:off x="0" y="0"/>
          <a:ext cx="0" cy="0"/>
          <a:chOff x="0" y="0"/>
          <a:chExt cx="0" cy="0"/>
        </a:xfrm>
      </p:grpSpPr>
      <p:sp>
        <p:nvSpPr>
          <p:cNvPr id="180" name="Google Shape;180;p10"/>
          <p:cNvSpPr/>
          <p:nvPr/>
        </p:nvSpPr>
        <p:spPr>
          <a:xfrm>
            <a:off x="548640" y="274320"/>
            <a:ext cx="80467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Trebuchet MS"/>
              <a:buNone/>
            </a:pPr>
            <a:r>
              <a:rPr b="1" lang="en-US" sz="3200">
                <a:solidFill>
                  <a:srgbClr val="FFFFFF"/>
                </a:solidFill>
                <a:latin typeface="Trebuchet MS"/>
                <a:ea typeface="Trebuchet MS"/>
                <a:cs typeface="Trebuchet MS"/>
                <a:sym typeface="Trebuchet MS"/>
              </a:rPr>
              <a:t>Workload Distribution</a:t>
            </a:r>
            <a:endParaRPr sz="3200">
              <a:solidFill>
                <a:schemeClr val="dk1"/>
              </a:solidFill>
              <a:latin typeface="Calibri"/>
              <a:ea typeface="Calibri"/>
              <a:cs typeface="Calibri"/>
              <a:sym typeface="Calibri"/>
            </a:endParaRPr>
          </a:p>
        </p:txBody>
      </p:sp>
      <p:sp>
        <p:nvSpPr>
          <p:cNvPr id="181" name="Google Shape;181;p10"/>
          <p:cNvSpPr/>
          <p:nvPr/>
        </p:nvSpPr>
        <p:spPr>
          <a:xfrm>
            <a:off x="548640" y="914400"/>
            <a:ext cx="1097280" cy="36576"/>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10"/>
          <p:cNvSpPr/>
          <p:nvPr/>
        </p:nvSpPr>
        <p:spPr>
          <a:xfrm>
            <a:off x="548640" y="1280160"/>
            <a:ext cx="8046720" cy="100584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0"/>
          <p:cNvSpPr/>
          <p:nvPr/>
        </p:nvSpPr>
        <p:spPr>
          <a:xfrm>
            <a:off x="548640" y="1280160"/>
            <a:ext cx="64008" cy="1005840"/>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4" name="Google Shape;184;p10"/>
          <p:cNvPicPr preferRelativeResize="0"/>
          <p:nvPr/>
        </p:nvPicPr>
        <p:blipFill rotWithShape="1">
          <a:blip r:embed="rId3">
            <a:alphaModFix/>
          </a:blip>
          <a:srcRect b="0" l="0" r="0" t="0"/>
          <a:stretch/>
        </p:blipFill>
        <p:spPr>
          <a:xfrm>
            <a:off x="822960" y="1508760"/>
            <a:ext cx="411480" cy="411480"/>
          </a:xfrm>
          <a:prstGeom prst="rect">
            <a:avLst/>
          </a:prstGeom>
          <a:noFill/>
          <a:ln>
            <a:noFill/>
          </a:ln>
        </p:spPr>
      </p:pic>
      <p:sp>
        <p:nvSpPr>
          <p:cNvPr id="185" name="Google Shape;185;p10"/>
          <p:cNvSpPr/>
          <p:nvPr/>
        </p:nvSpPr>
        <p:spPr>
          <a:xfrm>
            <a:off x="1371600" y="137160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Karrie Butcher</a:t>
            </a:r>
            <a:endParaRPr sz="1400">
              <a:solidFill>
                <a:schemeClr val="dk1"/>
              </a:solidFill>
              <a:latin typeface="Calibri"/>
              <a:ea typeface="Calibri"/>
              <a:cs typeface="Calibri"/>
              <a:sym typeface="Calibri"/>
            </a:endParaRPr>
          </a:p>
        </p:txBody>
      </p:sp>
      <p:sp>
        <p:nvSpPr>
          <p:cNvPr id="186" name="Google Shape;186;p10"/>
          <p:cNvSpPr/>
          <p:nvPr/>
        </p:nvSpPr>
        <p:spPr>
          <a:xfrm>
            <a:off x="1371600" y="1737360"/>
            <a:ext cx="69494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Project topic selection, motivation write-up, overall project plan, report compilation, and video presentation introduction, video demo</a:t>
            </a:r>
            <a:endParaRPr sz="1100">
              <a:solidFill>
                <a:schemeClr val="dk1"/>
              </a:solidFill>
              <a:latin typeface="Calibri"/>
              <a:ea typeface="Calibri"/>
              <a:cs typeface="Calibri"/>
              <a:sym typeface="Calibri"/>
            </a:endParaRPr>
          </a:p>
        </p:txBody>
      </p:sp>
      <p:sp>
        <p:nvSpPr>
          <p:cNvPr id="187" name="Google Shape;187;p10"/>
          <p:cNvSpPr/>
          <p:nvPr/>
        </p:nvSpPr>
        <p:spPr>
          <a:xfrm>
            <a:off x="548640" y="2514600"/>
            <a:ext cx="8046720" cy="100584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10"/>
          <p:cNvSpPr/>
          <p:nvPr/>
        </p:nvSpPr>
        <p:spPr>
          <a:xfrm>
            <a:off x="548640" y="2514600"/>
            <a:ext cx="64008" cy="1005840"/>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9" name="Google Shape;189;p10"/>
          <p:cNvPicPr preferRelativeResize="0"/>
          <p:nvPr/>
        </p:nvPicPr>
        <p:blipFill rotWithShape="1">
          <a:blip r:embed="rId3">
            <a:alphaModFix/>
          </a:blip>
          <a:srcRect b="0" l="0" r="0" t="0"/>
          <a:stretch/>
        </p:blipFill>
        <p:spPr>
          <a:xfrm>
            <a:off x="822960" y="2743200"/>
            <a:ext cx="411480" cy="411480"/>
          </a:xfrm>
          <a:prstGeom prst="rect">
            <a:avLst/>
          </a:prstGeom>
          <a:noFill/>
          <a:ln>
            <a:noFill/>
          </a:ln>
        </p:spPr>
      </p:pic>
      <p:sp>
        <p:nvSpPr>
          <p:cNvPr id="190" name="Google Shape;190;p10"/>
          <p:cNvSpPr/>
          <p:nvPr/>
        </p:nvSpPr>
        <p:spPr>
          <a:xfrm>
            <a:off x="1371600" y="260604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Camryn McPhaul</a:t>
            </a:r>
            <a:endParaRPr sz="1400">
              <a:solidFill>
                <a:schemeClr val="dk1"/>
              </a:solidFill>
              <a:latin typeface="Calibri"/>
              <a:ea typeface="Calibri"/>
              <a:cs typeface="Calibri"/>
              <a:sym typeface="Calibri"/>
            </a:endParaRPr>
          </a:p>
        </p:txBody>
      </p:sp>
      <p:sp>
        <p:nvSpPr>
          <p:cNvPr id="191" name="Google Shape;191;p10"/>
          <p:cNvSpPr/>
          <p:nvPr/>
        </p:nvSpPr>
        <p:spPr>
          <a:xfrm>
            <a:off x="1371600" y="2971800"/>
            <a:ext cx="69494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Device type and quantity documentation, Packet Tracer initial device placement and topology setup, and video presentation, report compilation</a:t>
            </a:r>
            <a:endParaRPr sz="1100">
              <a:solidFill>
                <a:schemeClr val="dk1"/>
              </a:solidFill>
              <a:latin typeface="Calibri"/>
              <a:ea typeface="Calibri"/>
              <a:cs typeface="Calibri"/>
              <a:sym typeface="Calibri"/>
            </a:endParaRPr>
          </a:p>
        </p:txBody>
      </p:sp>
      <p:sp>
        <p:nvSpPr>
          <p:cNvPr id="192" name="Google Shape;192;p10"/>
          <p:cNvSpPr/>
          <p:nvPr/>
        </p:nvSpPr>
        <p:spPr>
          <a:xfrm>
            <a:off x="548640" y="3749040"/>
            <a:ext cx="8046720" cy="1005840"/>
          </a:xfrm>
          <a:prstGeom prst="rect">
            <a:avLst/>
          </a:prstGeom>
          <a:solidFill>
            <a:srgbClr val="142840"/>
          </a:solidFill>
          <a:ln>
            <a:noFill/>
          </a:ln>
          <a:effectLst>
            <a:outerShdw blurRad="101600" rotWithShape="0" algn="bl" dir="8100000" dist="38100">
              <a:srgbClr val="000000">
                <a:alpha val="3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10"/>
          <p:cNvSpPr/>
          <p:nvPr/>
        </p:nvSpPr>
        <p:spPr>
          <a:xfrm>
            <a:off x="548640" y="3749040"/>
            <a:ext cx="64008" cy="1005840"/>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94" name="Google Shape;194;p10"/>
          <p:cNvPicPr preferRelativeResize="0"/>
          <p:nvPr/>
        </p:nvPicPr>
        <p:blipFill rotWithShape="1">
          <a:blip r:embed="rId3">
            <a:alphaModFix/>
          </a:blip>
          <a:srcRect b="0" l="0" r="0" t="0"/>
          <a:stretch/>
        </p:blipFill>
        <p:spPr>
          <a:xfrm>
            <a:off x="822960" y="3977640"/>
            <a:ext cx="411480" cy="411480"/>
          </a:xfrm>
          <a:prstGeom prst="rect">
            <a:avLst/>
          </a:prstGeom>
          <a:noFill/>
          <a:ln>
            <a:noFill/>
          </a:ln>
        </p:spPr>
      </p:pic>
      <p:sp>
        <p:nvSpPr>
          <p:cNvPr id="195" name="Google Shape;195;p10"/>
          <p:cNvSpPr/>
          <p:nvPr/>
        </p:nvSpPr>
        <p:spPr>
          <a:xfrm>
            <a:off x="1371600" y="3840480"/>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Trebuchet MS"/>
              <a:buNone/>
            </a:pPr>
            <a:r>
              <a:rPr b="1" lang="en-US" sz="1400">
                <a:solidFill>
                  <a:srgbClr val="FFFFFF"/>
                </a:solidFill>
                <a:latin typeface="Trebuchet MS"/>
                <a:ea typeface="Trebuchet MS"/>
                <a:cs typeface="Trebuchet MS"/>
                <a:sym typeface="Trebuchet MS"/>
              </a:rPr>
              <a:t>Daniel Opemipo Oni</a:t>
            </a:r>
            <a:endParaRPr sz="1400">
              <a:solidFill>
                <a:schemeClr val="dk1"/>
              </a:solidFill>
              <a:latin typeface="Calibri"/>
              <a:ea typeface="Calibri"/>
              <a:cs typeface="Calibri"/>
              <a:sym typeface="Calibri"/>
            </a:endParaRPr>
          </a:p>
        </p:txBody>
      </p:sp>
      <p:sp>
        <p:nvSpPr>
          <p:cNvPr id="196" name="Google Shape;196;p10"/>
          <p:cNvSpPr/>
          <p:nvPr/>
        </p:nvSpPr>
        <p:spPr>
          <a:xfrm>
            <a:off x="1371600" y="4206240"/>
            <a:ext cx="694944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30000"/>
              </a:lnSpc>
              <a:spcBef>
                <a:spcPts val="0"/>
              </a:spcBef>
              <a:spcAft>
                <a:spcPts val="0"/>
              </a:spcAft>
              <a:buClr>
                <a:srgbClr val="C8D6E5"/>
              </a:buClr>
              <a:buSzPts val="1100"/>
              <a:buFont typeface="Calibri"/>
              <a:buNone/>
            </a:pPr>
            <a:r>
              <a:rPr lang="en-US" sz="1100">
                <a:solidFill>
                  <a:srgbClr val="C8D6E5"/>
                </a:solidFill>
                <a:latin typeface="Calibri"/>
                <a:ea typeface="Calibri"/>
                <a:cs typeface="Calibri"/>
                <a:sym typeface="Calibri"/>
              </a:rPr>
              <a:t>Number of major areas documentation, security measures write-up, VLAN and ACL design planning, and video security section</a:t>
            </a:r>
            <a:endParaRPr sz="11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628"/>
        </a:solidFill>
      </p:bgPr>
    </p:bg>
    <p:spTree>
      <p:nvGrpSpPr>
        <p:cNvPr id="201" name="Shape 201"/>
        <p:cNvGrpSpPr/>
        <p:nvPr/>
      </p:nvGrpSpPr>
      <p:grpSpPr>
        <a:xfrm>
          <a:off x="0" y="0"/>
          <a:ext cx="0" cy="0"/>
          <a:chOff x="0" y="0"/>
          <a:chExt cx="0" cy="0"/>
        </a:xfrm>
      </p:grpSpPr>
      <p:sp>
        <p:nvSpPr>
          <p:cNvPr id="202" name="Google Shape;202;p11"/>
          <p:cNvSpPr/>
          <p:nvPr/>
        </p:nvSpPr>
        <p:spPr>
          <a:xfrm>
            <a:off x="0" y="0"/>
            <a:ext cx="9144000" cy="54864"/>
          </a:xfrm>
          <a:prstGeom prst="rect">
            <a:avLst/>
          </a:prstGeom>
          <a:solidFill>
            <a:srgbClr val="00D4A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3" name="Google Shape;203;p11"/>
          <p:cNvSpPr/>
          <p:nvPr/>
        </p:nvSpPr>
        <p:spPr>
          <a:xfrm>
            <a:off x="548640" y="548640"/>
            <a:ext cx="8046720" cy="6400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600"/>
              <a:buFont typeface="Trebuchet MS"/>
              <a:buNone/>
            </a:pPr>
            <a:r>
              <a:rPr b="1" lang="en-US" sz="3600">
                <a:solidFill>
                  <a:srgbClr val="FFFFFF"/>
                </a:solidFill>
                <a:latin typeface="Trebuchet MS"/>
                <a:ea typeface="Trebuchet MS"/>
                <a:cs typeface="Trebuchet MS"/>
                <a:sym typeface="Trebuchet MS"/>
              </a:rPr>
              <a:t>Conclusion</a:t>
            </a:r>
            <a:endParaRPr sz="3600">
              <a:solidFill>
                <a:schemeClr val="dk1"/>
              </a:solidFill>
              <a:latin typeface="Calibri"/>
              <a:ea typeface="Calibri"/>
              <a:cs typeface="Calibri"/>
              <a:sym typeface="Calibri"/>
            </a:endParaRPr>
          </a:p>
        </p:txBody>
      </p:sp>
      <p:sp>
        <p:nvSpPr>
          <p:cNvPr id="204" name="Google Shape;204;p11"/>
          <p:cNvSpPr/>
          <p:nvPr/>
        </p:nvSpPr>
        <p:spPr>
          <a:xfrm>
            <a:off x="1097280" y="1371600"/>
            <a:ext cx="6949440" cy="1280160"/>
          </a:xfrm>
          <a:prstGeom prst="rect">
            <a:avLst/>
          </a:prstGeom>
          <a:noFill/>
          <a:ln>
            <a:noFill/>
          </a:ln>
        </p:spPr>
        <p:txBody>
          <a:bodyPr anchorCtr="0" anchor="ctr" bIns="45700" lIns="91425" spcFirstLastPara="1" rIns="91425" wrap="square" tIns="45700">
            <a:noAutofit/>
          </a:bodyPr>
          <a:lstStyle/>
          <a:p>
            <a:pPr indent="0" lvl="0" marL="0" marR="0" rtl="0" algn="ctr">
              <a:lnSpc>
                <a:spcPct val="160000"/>
              </a:lnSpc>
              <a:spcBef>
                <a:spcPts val="0"/>
              </a:spcBef>
              <a:spcAft>
                <a:spcPts val="0"/>
              </a:spcAft>
              <a:buClr>
                <a:srgbClr val="C8D6E5"/>
              </a:buClr>
              <a:buSzPts val="1300"/>
              <a:buFont typeface="Calibri"/>
              <a:buNone/>
            </a:pPr>
            <a:r>
              <a:rPr lang="en-US" sz="1300">
                <a:solidFill>
                  <a:srgbClr val="C8D6E5"/>
                </a:solidFill>
                <a:latin typeface="Calibri"/>
                <a:ea typeface="Calibri"/>
                <a:cs typeface="Calibri"/>
                <a:sym typeface="Calibri"/>
              </a:rPr>
              <a:t>This project demonstrates how a tech startup can implement a secure, scalable, and well-organized network using industry-standard design principles. VLAN segmentation, a DMZ for public servers, ACLs at the distribution layer, and encrypted VPN access work together to address the most common attack vectors a startup would face.</a:t>
            </a:r>
            <a:endParaRPr sz="1300">
              <a:solidFill>
                <a:schemeClr val="dk1"/>
              </a:solidFill>
              <a:latin typeface="Calibri"/>
              <a:ea typeface="Calibri"/>
              <a:cs typeface="Calibri"/>
              <a:sym typeface="Calibri"/>
            </a:endParaRPr>
          </a:p>
        </p:txBody>
      </p:sp>
      <p:sp>
        <p:nvSpPr>
          <p:cNvPr id="205" name="Google Shape;205;p11"/>
          <p:cNvSpPr/>
          <p:nvPr/>
        </p:nvSpPr>
        <p:spPr>
          <a:xfrm>
            <a:off x="1097280" y="2743200"/>
            <a:ext cx="6949440" cy="731520"/>
          </a:xfrm>
          <a:prstGeom prst="rect">
            <a:avLst/>
          </a:prstGeom>
          <a:noFill/>
          <a:ln>
            <a:noFill/>
          </a:ln>
        </p:spPr>
        <p:txBody>
          <a:bodyPr anchorCtr="0" anchor="ctr" bIns="45700" lIns="91425" spcFirstLastPara="1" rIns="91425" wrap="square" tIns="45700">
            <a:noAutofit/>
          </a:bodyPr>
          <a:lstStyle/>
          <a:p>
            <a:pPr indent="0" lvl="0" marL="0" marR="0" rtl="0" algn="ctr">
              <a:lnSpc>
                <a:spcPct val="160000"/>
              </a:lnSpc>
              <a:spcBef>
                <a:spcPts val="0"/>
              </a:spcBef>
              <a:spcAft>
                <a:spcPts val="0"/>
              </a:spcAft>
              <a:buClr>
                <a:srgbClr val="7F8FA6"/>
              </a:buClr>
              <a:buSzPts val="1300"/>
              <a:buFont typeface="Calibri"/>
              <a:buNone/>
            </a:pPr>
            <a:r>
              <a:rPr lang="en-US" sz="1300">
                <a:solidFill>
                  <a:srgbClr val="7F8FA6"/>
                </a:solidFill>
                <a:latin typeface="Calibri"/>
                <a:ea typeface="Calibri"/>
                <a:cs typeface="Calibri"/>
                <a:sym typeface="Calibri"/>
              </a:rPr>
              <a:t>Simulating in Cisco Packet Tracer allowed the team to validate every design decision before committing to real hardware — reinforcing the importance of planning security from the ground up.</a:t>
            </a:r>
            <a:endParaRPr sz="1300">
              <a:solidFill>
                <a:schemeClr val="dk1"/>
              </a:solidFill>
              <a:latin typeface="Calibri"/>
              <a:ea typeface="Calibri"/>
              <a:cs typeface="Calibri"/>
              <a:sym typeface="Calibri"/>
            </a:endParaRPr>
          </a:p>
        </p:txBody>
      </p:sp>
      <p:sp>
        <p:nvSpPr>
          <p:cNvPr id="206" name="Google Shape;206;p11"/>
          <p:cNvSpPr/>
          <p:nvPr/>
        </p:nvSpPr>
        <p:spPr>
          <a:xfrm>
            <a:off x="3200400" y="3749040"/>
            <a:ext cx="2743200" cy="13716"/>
          </a:xfrm>
          <a:prstGeom prst="rect">
            <a:avLst/>
          </a:prstGeom>
          <a:solidFill>
            <a:srgbClr val="7F8FA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11"/>
          <p:cNvSpPr/>
          <p:nvPr/>
        </p:nvSpPr>
        <p:spPr>
          <a:xfrm>
            <a:off x="548640" y="3931920"/>
            <a:ext cx="8046720" cy="54864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0D4AA"/>
              </a:buClr>
              <a:buSzPts val="2800"/>
              <a:buFont typeface="Trebuchet MS"/>
              <a:buNone/>
            </a:pPr>
            <a:r>
              <a:rPr b="1" lang="en-US" sz="2800">
                <a:solidFill>
                  <a:srgbClr val="00D4AA"/>
                </a:solidFill>
                <a:latin typeface="Trebuchet MS"/>
                <a:ea typeface="Trebuchet MS"/>
                <a:cs typeface="Trebuchet MS"/>
                <a:sym typeface="Trebuchet MS"/>
              </a:rPr>
              <a:t>Questions?</a:t>
            </a:r>
            <a:endParaRPr sz="2800">
              <a:solidFill>
                <a:schemeClr val="dk1"/>
              </a:solidFill>
              <a:latin typeface="Calibri"/>
              <a:ea typeface="Calibri"/>
              <a:cs typeface="Calibri"/>
              <a:sym typeface="Calibri"/>
            </a:endParaRPr>
          </a:p>
        </p:txBody>
      </p:sp>
      <p:sp>
        <p:nvSpPr>
          <p:cNvPr id="208" name="Google Shape;208;p11"/>
          <p:cNvSpPr/>
          <p:nvPr/>
        </p:nvSpPr>
        <p:spPr>
          <a:xfrm>
            <a:off x="548640" y="4572000"/>
            <a:ext cx="804672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7F8FA6"/>
              </a:buClr>
              <a:buSzPts val="1100"/>
              <a:buFont typeface="Calibri"/>
              <a:buNone/>
            </a:pPr>
            <a:r>
              <a:rPr lang="en-US" sz="1100">
                <a:solidFill>
                  <a:srgbClr val="7F8FA6"/>
                </a:solidFill>
                <a:latin typeface="Calibri"/>
                <a:ea typeface="Calibri"/>
                <a:cs typeface="Calibri"/>
                <a:sym typeface="Calibri"/>
              </a:rPr>
              <a:t>CS 7/5344 — Spring 2026</a:t>
            </a:r>
            <a:endParaRPr sz="1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2026-03-26T05:21:42Z</dcterms:created>
  <dc:creator>Daniel Opemipo Oni, Karrie Butcher, Camryn McPhaul</dc:creator>
</cp:coreProperties>
</file>